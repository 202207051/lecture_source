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fld id="{B5479D43-48B5-4F1D-B40A-18314BD8EF93}" type="datetimeFigureOut">
              <a:rPr lang="ko-KR" altLang="en-US" smtClean="0"/>
              <a:pPr/>
              <a:t>2026-08-25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fld id="{8208D005-1A51-4D66-AC57-F47AD6FE5D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84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함초롬돋움" panose="020B0604000101010101" pitchFamily="50" charset="-127"/>
        <a:ea typeface="함초롬돋움" panose="020B0604000101010101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ctr"/>
          <a:lstStyle>
            <a:lvl1pPr algn="ctr">
              <a:lnSpc>
                <a:spcPct val="150000"/>
              </a:lnSpc>
              <a:defRPr sz="4000" b="1" baseline="0">
                <a:latin typeface="+mj-lt"/>
                <a:ea typeface="+mn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7772400" cy="1655762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1800" baseline="0">
                <a:latin typeface="+mn-lt"/>
                <a:ea typeface="+mj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55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0" y="363600"/>
            <a:ext cx="8884800" cy="633600"/>
          </a:xfrm>
        </p:spPr>
        <p:txBody>
          <a:bodyPr/>
          <a:lstStyle>
            <a:lvl1pPr>
              <a:defRPr b="1" baseline="0">
                <a:latin typeface="+mj-lt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00" y="1068576"/>
            <a:ext cx="8884800" cy="5216400"/>
          </a:xfrm>
        </p:spPr>
        <p:txBody>
          <a:bodyPr/>
          <a:lstStyle>
            <a:lvl1pPr>
              <a:lnSpc>
                <a:spcPct val="100000"/>
              </a:lnSpc>
              <a:defRPr b="1" baseline="0">
                <a:latin typeface="+mn-lt"/>
                <a:ea typeface="+mn-ea"/>
              </a:defRPr>
            </a:lvl1pPr>
            <a:lvl2pPr>
              <a:lnSpc>
                <a:spcPct val="100000"/>
              </a:lnSpc>
              <a:defRPr sz="1800" baseline="0">
                <a:latin typeface="+mn-lt"/>
                <a:ea typeface="+mn-ea"/>
              </a:defRPr>
            </a:lvl2pPr>
            <a:lvl3pPr>
              <a:lnSpc>
                <a:spcPct val="100000"/>
              </a:lnSpc>
              <a:defRPr sz="1600" baseline="0">
                <a:latin typeface="+mn-lt"/>
                <a:ea typeface="+mn-ea"/>
              </a:defRPr>
            </a:lvl3pPr>
            <a:lvl4pPr>
              <a:lnSpc>
                <a:spcPct val="100000"/>
              </a:lnSpc>
              <a:defRPr sz="1600" baseline="0">
                <a:latin typeface="+mn-lt"/>
                <a:ea typeface="+mn-ea"/>
              </a:defRPr>
            </a:lvl4pPr>
            <a:lvl5pPr>
              <a:lnSpc>
                <a:spcPct val="100000"/>
              </a:lnSpc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fld id="{38DF076A-48B0-45B5-8C69-5A57CC6A36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729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062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4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4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2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4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4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58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235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851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 sz="2000"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1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9723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51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4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4pPr>
            <a:lvl5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321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함초롬돋움" panose="020B0604000101010101" pitchFamily="50" charset="-127"/>
                <a:ea typeface="함초롬돋움" panose="020B0604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772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600" y="160719"/>
            <a:ext cx="88848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600" y="967135"/>
            <a:ext cx="8884800" cy="521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570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82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defRPr>
            </a:lvl1pPr>
          </a:lstStyle>
          <a:p>
            <a:fld id="{38DF076A-48B0-45B5-8C69-5A57CC6A36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472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함초롬돋움" panose="020B0604000101010101" pitchFamily="50" charset="-127"/>
          <a:ea typeface="함초롬돋움" panose="020B0604000101010101" pitchFamily="50" charset="-127"/>
          <a:cs typeface="함초롬돋움" panose="020B0604000101010101" pitchFamily="50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함초롬돋움" panose="020B0604000101010101" pitchFamily="50" charset="-127"/>
          <a:ea typeface="함초롬돋움" panose="020B0604000101010101" pitchFamily="50" charset="-127"/>
          <a:cs typeface="함초롬돋움" panose="020B0604000101010101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-"/>
        <a:defRPr sz="2000" kern="1200">
          <a:solidFill>
            <a:schemeClr val="tx1"/>
          </a:solidFill>
          <a:latin typeface="함초롬돋움" panose="020B0604000101010101" pitchFamily="50" charset="-127"/>
          <a:ea typeface="함초롬돋움" panose="020B0604000101010101" pitchFamily="50" charset="-127"/>
          <a:cs typeface="함초롬돋움" panose="020B0604000101010101" pitchFamily="50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함초롬돋움" panose="020B0604000101010101" pitchFamily="50" charset="-127"/>
          <a:ea typeface="함초롬돋움" panose="020B0604000101010101" pitchFamily="50" charset="-127"/>
          <a:cs typeface="함초롬돋움" panose="020B0604000101010101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9B2FE-6961-433B-BA89-2EA342D01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ea typeface="+mn-ea"/>
              </a:rPr>
              <a:t>기업솔루션프로젝트</a:t>
            </a:r>
            <a:br>
              <a:rPr lang="en-US" altLang="ko-KR" dirty="0">
                <a:ea typeface="+mn-ea"/>
              </a:rPr>
            </a:br>
            <a:r>
              <a:rPr lang="en-US" altLang="ko-KR" sz="2000" dirty="0">
                <a:ea typeface="+mn-ea"/>
              </a:rPr>
              <a:t>- 1</a:t>
            </a:r>
            <a:r>
              <a:rPr lang="ko-KR" altLang="en-US" sz="2000" dirty="0">
                <a:ea typeface="+mn-ea"/>
              </a:rPr>
              <a:t>주차 </a:t>
            </a:r>
            <a:r>
              <a:rPr lang="en-US" altLang="ko-KR" sz="2000" dirty="0">
                <a:ea typeface="+mn-ea"/>
              </a:rPr>
              <a:t>-</a:t>
            </a:r>
            <a:br>
              <a:rPr lang="en-US" altLang="ko-KR" dirty="0">
                <a:ea typeface="+mn-ea"/>
              </a:rPr>
            </a:br>
            <a:endParaRPr lang="ko-KR" altLang="en-US" sz="2000" dirty="0">
              <a:ea typeface="+mn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7DA7B1-D7BC-4614-B647-BF74D112A8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유한대학교 </a:t>
            </a:r>
            <a:r>
              <a:rPr lang="ko-KR" altLang="en-US" dirty="0" err="1"/>
              <a:t>컴퓨터소프트웨어공학과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박 영 환</a:t>
            </a:r>
          </a:p>
        </p:txBody>
      </p:sp>
    </p:spTree>
    <p:extLst>
      <p:ext uri="{BB962C8B-B14F-4D97-AF65-F5344CB8AC3E}">
        <p14:creationId xmlns:p14="http://schemas.microsoft.com/office/powerpoint/2010/main" val="356670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401DF-2707-4F03-A921-84C8EFA4C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데이터에 관심을 가져야 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85449-16F5-44B3-8A54-7224361A0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ko-KR" altLang="en-US" dirty="0"/>
              <a:t>측정</a:t>
            </a:r>
            <a:r>
              <a:rPr lang="en-US" altLang="ko-KR" dirty="0"/>
              <a:t>, </a:t>
            </a:r>
            <a:r>
              <a:rPr lang="ko-KR" altLang="en-US" dirty="0"/>
              <a:t>관찰</a:t>
            </a:r>
            <a:r>
              <a:rPr lang="en-US" altLang="ko-KR" dirty="0"/>
              <a:t>, </a:t>
            </a:r>
            <a:r>
              <a:rPr lang="ko-KR" altLang="en-US" dirty="0"/>
              <a:t>연구</a:t>
            </a:r>
            <a:r>
              <a:rPr lang="en-US" altLang="ko-KR" dirty="0"/>
              <a:t>, </a:t>
            </a:r>
            <a:r>
              <a:rPr lang="ko-KR" altLang="en-US" dirty="0"/>
              <a:t>분석 등을 통해 수집된 정보</a:t>
            </a:r>
            <a:endParaRPr lang="en-US" altLang="ko-KR" dirty="0"/>
          </a:p>
          <a:p>
            <a:pPr lvl="1"/>
            <a:r>
              <a:rPr lang="ko-KR" altLang="en-US" dirty="0"/>
              <a:t>활용분야</a:t>
            </a:r>
            <a:endParaRPr lang="en-US" altLang="ko-KR" dirty="0"/>
          </a:p>
          <a:p>
            <a:pPr lvl="2"/>
            <a:r>
              <a:rPr lang="ko-KR" altLang="en-US" dirty="0"/>
              <a:t>금용 부문에서는 위험과 사기 감지</a:t>
            </a:r>
            <a:endParaRPr lang="en-US" altLang="ko-KR" dirty="0"/>
          </a:p>
          <a:p>
            <a:pPr lvl="2"/>
            <a:r>
              <a:rPr lang="ko-KR" altLang="en-US" dirty="0"/>
              <a:t>의료 부문에서는 유전학 및 질병을 분석</a:t>
            </a:r>
            <a:endParaRPr lang="en-US" altLang="ko-KR" dirty="0"/>
          </a:p>
          <a:p>
            <a:pPr lvl="2"/>
            <a:r>
              <a:rPr lang="ko-KR" altLang="en-US" dirty="0"/>
              <a:t>기업에서는 고객의 행동과 선호도 이해</a:t>
            </a:r>
            <a:endParaRPr lang="en-US" altLang="ko-KR" dirty="0"/>
          </a:p>
          <a:p>
            <a:pPr lvl="2"/>
            <a:r>
              <a:rPr lang="ko-KR" altLang="en-US" dirty="0"/>
              <a:t>새로운 시장 기회 발견</a:t>
            </a:r>
            <a:endParaRPr lang="en-US" altLang="ko-KR" dirty="0"/>
          </a:p>
          <a:p>
            <a:pPr lvl="2"/>
            <a:r>
              <a:rPr lang="ko-KR" altLang="en-US" dirty="0"/>
              <a:t>비즈니스 전략 수집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3E1843-317C-4108-9ACD-22E03D1A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>
                <a:latin typeface="+mj-lt"/>
              </a:rPr>
              <a:t>2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559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9BF265-B477-4C66-8498-1B0EEBCE3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데이터에 관심을 가져야 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48679-C071-426F-8404-1D97F1650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차 산업혁명 기술과 데이터</a:t>
            </a:r>
            <a:endParaRPr lang="en-US" altLang="ko-KR" dirty="0"/>
          </a:p>
          <a:p>
            <a:pPr lvl="1"/>
            <a:r>
              <a:rPr lang="ko-KR" altLang="en-US" dirty="0"/>
              <a:t>데이터가 핵심 자원으로 적용되는 분야</a:t>
            </a:r>
            <a:endParaRPr lang="en-US" altLang="ko-KR" dirty="0"/>
          </a:p>
          <a:p>
            <a:pPr lvl="2"/>
            <a:r>
              <a:rPr lang="ko-KR" altLang="en-US" dirty="0"/>
              <a:t>인공지능 </a:t>
            </a:r>
            <a:r>
              <a:rPr lang="ko-KR" altLang="en-US" dirty="0" err="1"/>
              <a:t>머신러닝</a:t>
            </a:r>
            <a:endParaRPr lang="en-US" altLang="ko-KR" dirty="0"/>
          </a:p>
          <a:p>
            <a:pPr lvl="2"/>
            <a:r>
              <a:rPr lang="ko-KR" altLang="en-US" dirty="0"/>
              <a:t>빅데이터 분석</a:t>
            </a:r>
            <a:endParaRPr lang="en-US" altLang="ko-KR" dirty="0"/>
          </a:p>
          <a:p>
            <a:pPr lvl="2"/>
            <a:r>
              <a:rPr lang="ko-KR" altLang="en-US" dirty="0"/>
              <a:t>사물 인터넷</a:t>
            </a:r>
            <a:endParaRPr lang="en-US" altLang="ko-KR" dirty="0"/>
          </a:p>
          <a:p>
            <a:pPr lvl="2"/>
            <a:r>
              <a:rPr lang="ko-KR" altLang="en-US" dirty="0"/>
              <a:t>블록체인</a:t>
            </a:r>
            <a:endParaRPr lang="en-US" altLang="ko-KR" dirty="0"/>
          </a:p>
          <a:p>
            <a:pPr lvl="2"/>
            <a:r>
              <a:rPr lang="ko-KR" altLang="en-US" dirty="0"/>
              <a:t>로봇공학</a:t>
            </a:r>
            <a:endParaRPr lang="en-US" altLang="ko-KR" dirty="0"/>
          </a:p>
          <a:p>
            <a:pPr lvl="2"/>
            <a:r>
              <a:rPr lang="ko-KR" altLang="en-US" dirty="0"/>
              <a:t>가상 현실 및 증강 현실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C0C9B-C0A6-44FA-9B1D-19B1FE8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640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18175-DE3A-4F56-BFE2-52319890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데이터의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28304-C6F5-4BF9-A605-5BA33DAB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정형 데이터</a:t>
            </a:r>
            <a:endParaRPr lang="en-US" altLang="ko-KR" dirty="0"/>
          </a:p>
          <a:p>
            <a:pPr lvl="1"/>
            <a:r>
              <a:rPr lang="ko-KR" altLang="en-US" dirty="0"/>
              <a:t>미리 정해진 구조에 따라 저장된 데이터</a:t>
            </a:r>
            <a:endParaRPr lang="en-US" altLang="ko-KR" dirty="0"/>
          </a:p>
          <a:p>
            <a:pPr lvl="1"/>
            <a:r>
              <a:rPr lang="ko-KR" altLang="en-US" dirty="0"/>
              <a:t>손쉽게 데이터 검색 및 삽입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삭제 연산을 수행할 수 있음</a:t>
            </a:r>
            <a:endParaRPr lang="en-US" altLang="ko-KR" dirty="0"/>
          </a:p>
          <a:p>
            <a:pPr lvl="1"/>
            <a:r>
              <a:rPr lang="ko-KR" altLang="en-US" spc="-150" dirty="0"/>
              <a:t>엑셀의 스프레드시트나 관계형 데이터베이스의 테이블에 저장된 데이터 등</a:t>
            </a:r>
            <a:endParaRPr lang="en-US" altLang="ko-KR" spc="-150" dirty="0"/>
          </a:p>
          <a:p>
            <a:pPr lvl="1"/>
            <a:endParaRPr lang="en-US" altLang="ko-KR" spc="-150" dirty="0"/>
          </a:p>
          <a:p>
            <a:r>
              <a:rPr lang="ko-KR" altLang="en-US" dirty="0"/>
              <a:t>반정형 데이터</a:t>
            </a:r>
            <a:endParaRPr lang="en-US" altLang="ko-KR" dirty="0"/>
          </a:p>
          <a:p>
            <a:pPr lvl="1"/>
            <a:r>
              <a:rPr lang="ko-KR" altLang="en-US" dirty="0"/>
              <a:t>정형 데이터와는 달리 구조화되어 있지 않아서 연산이 불가능함</a:t>
            </a:r>
            <a:endParaRPr lang="en-US" altLang="ko-KR" dirty="0"/>
          </a:p>
          <a:p>
            <a:pPr lvl="1"/>
            <a:r>
              <a:rPr lang="ko-KR" altLang="en-US" dirty="0"/>
              <a:t>데이터 내부의 데이터 구조에 대한 메타 정보를 함께 제공하는 </a:t>
            </a:r>
            <a:br>
              <a:rPr lang="en-US" altLang="ko-KR" dirty="0"/>
            </a:br>
            <a:r>
              <a:rPr lang="ko-KR" altLang="en-US" dirty="0"/>
              <a:t>파일 형식의 데이터</a:t>
            </a:r>
            <a:endParaRPr lang="en-US" altLang="ko-KR" dirty="0"/>
          </a:p>
          <a:p>
            <a:pPr lvl="1"/>
            <a:r>
              <a:rPr lang="en-US" altLang="ko-KR" dirty="0"/>
              <a:t>HTML, XML, JSON </a:t>
            </a:r>
            <a:r>
              <a:rPr lang="ko-KR" altLang="en-US" dirty="0"/>
              <a:t>파일이나 웹 로그</a:t>
            </a:r>
            <a:r>
              <a:rPr lang="en-US" altLang="ko-KR" dirty="0"/>
              <a:t>, </a:t>
            </a:r>
            <a:r>
              <a:rPr lang="ko-KR" altLang="en-US" dirty="0"/>
              <a:t>센서 데이터 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FBCC6-8078-41D6-9120-34F3E987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205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ACC91-0295-4D86-BFC1-95C310822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데이터의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ED6D8-728E-46FF-8903-5AE9E6BE1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비정형 데이터</a:t>
            </a:r>
            <a:endParaRPr lang="en-US" altLang="ko-KR" dirty="0"/>
          </a:p>
          <a:p>
            <a:pPr lvl="1"/>
            <a:r>
              <a:rPr lang="ko-KR" altLang="en-US" dirty="0"/>
              <a:t>정해진 구조나 규칙이 없고 연산에 사용할 수 없는 형태의 데이터</a:t>
            </a:r>
            <a:endParaRPr lang="en-US" altLang="ko-KR" dirty="0"/>
          </a:p>
          <a:p>
            <a:pPr lvl="1"/>
            <a:r>
              <a:rPr lang="ko-KR" altLang="en-US" dirty="0"/>
              <a:t>소셜 데이터 및 워드나 </a:t>
            </a:r>
            <a:r>
              <a:rPr lang="en-US" altLang="ko-KR" dirty="0"/>
              <a:t>PDF 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영상 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9ACF00-B087-47D7-ADD2-93EA0665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70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B8B41-83DC-4D0F-8493-87A99DBC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데이터베이스와 데이터베이스 관리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9E111-BBE7-4CB1-A427-E2D3EDDF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데이터베이스</a:t>
            </a:r>
            <a:endParaRPr lang="en-US" altLang="ko-KR" dirty="0"/>
          </a:p>
          <a:p>
            <a:pPr lvl="1"/>
            <a:r>
              <a:rPr lang="ko-KR" altLang="en-US" dirty="0"/>
              <a:t>여러 사람이 공유하고 운영할 목적으로 관리되는 통합적인 정보의 집합</a:t>
            </a:r>
            <a:endParaRPr lang="en-US" altLang="ko-KR" dirty="0"/>
          </a:p>
          <a:p>
            <a:pPr lvl="1"/>
            <a:r>
              <a:rPr lang="ko-KR" altLang="en-US" dirty="0"/>
              <a:t>컴퓨터 시스템에 전자적으로 저장되는 구조화된 데이터 모음</a:t>
            </a:r>
            <a:endParaRPr lang="en-US" altLang="ko-KR" dirty="0"/>
          </a:p>
          <a:p>
            <a:pPr lvl="1"/>
            <a:r>
              <a:rPr lang="ko-KR" altLang="en-US" dirty="0"/>
              <a:t>데이터베이스는 데이터베이스 관리 시스템</a:t>
            </a:r>
            <a:r>
              <a:rPr lang="en-US" altLang="ko-KR" dirty="0"/>
              <a:t>(DBMS)</a:t>
            </a:r>
            <a:r>
              <a:rPr lang="ko-KR" altLang="en-US" dirty="0"/>
              <a:t>에 의해 관리됨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DBMS</a:t>
            </a:r>
          </a:p>
          <a:p>
            <a:pPr lvl="1"/>
            <a:r>
              <a:rPr lang="ko-KR" altLang="en-US" dirty="0"/>
              <a:t>최종 사용자 또는 응용 프로그램이 데이터베이스에 접근할 수 있는 </a:t>
            </a:r>
            <a:br>
              <a:rPr lang="en-US" altLang="ko-KR" dirty="0"/>
            </a:br>
            <a:r>
              <a:rPr lang="ko-KR" altLang="en-US" dirty="0"/>
              <a:t>인터페이스 역할</a:t>
            </a:r>
            <a:endParaRPr lang="en-US" altLang="ko-KR" dirty="0"/>
          </a:p>
          <a:p>
            <a:pPr lvl="1"/>
            <a:r>
              <a:rPr lang="ko-KR" altLang="en-US" dirty="0"/>
              <a:t>저장된 데이터를 보다 체계적으로 관리하고 이용할 수 있게 해주는 </a:t>
            </a:r>
            <a:br>
              <a:rPr lang="en-US" altLang="ko-KR" dirty="0"/>
            </a:br>
            <a:r>
              <a:rPr lang="ko-KR" altLang="en-US" dirty="0"/>
              <a:t>소프트웨어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38E7C-A1F5-4F4E-B5CA-4EA3513F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72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A58E8-596A-4A91-9C16-D565BF00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관계형 데이터베이스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403D3-BCC0-4654-9FF4-0D543A70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관계형 데이터베이스</a:t>
            </a:r>
            <a:endParaRPr lang="en-US" altLang="ko-KR" dirty="0"/>
          </a:p>
          <a:p>
            <a:pPr lvl="1"/>
            <a:r>
              <a:rPr lang="ko-KR" altLang="en-US" dirty="0"/>
              <a:t>관계형 데이터 모델을 기반으로 한 데이터베이스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테이블</a:t>
            </a:r>
            <a:endParaRPr lang="en-US" altLang="ko-KR" dirty="0"/>
          </a:p>
          <a:p>
            <a:pPr lvl="1"/>
            <a:r>
              <a:rPr lang="ko-KR" altLang="en-US" dirty="0" err="1"/>
              <a:t>릴레이션이라고도</a:t>
            </a:r>
            <a:r>
              <a:rPr lang="ko-KR" altLang="en-US" dirty="0"/>
              <a:t> 함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개 이상의 열과 </a:t>
            </a:r>
            <a:r>
              <a:rPr lang="en-US" altLang="ko-KR" dirty="0"/>
              <a:t>0</a:t>
            </a:r>
            <a:r>
              <a:rPr lang="ko-KR" altLang="en-US" dirty="0"/>
              <a:t>개 이상의 행으로 이루어진 데이터 집합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열</a:t>
            </a:r>
            <a:endParaRPr lang="en-US" altLang="ko-KR" dirty="0"/>
          </a:p>
          <a:p>
            <a:pPr lvl="1"/>
            <a:r>
              <a:rPr lang="ko-KR" altLang="en-US" dirty="0"/>
              <a:t>속성</a:t>
            </a:r>
            <a:r>
              <a:rPr lang="en-US" altLang="ko-KR" dirty="0"/>
              <a:t>, </a:t>
            </a:r>
            <a:r>
              <a:rPr lang="ko-KR" altLang="en-US" dirty="0"/>
              <a:t>필드라고도 함</a:t>
            </a:r>
            <a:endParaRPr lang="en-US" altLang="ko-KR" dirty="0"/>
          </a:p>
          <a:p>
            <a:pPr lvl="1"/>
            <a:r>
              <a:rPr lang="ko-KR" altLang="en-US" dirty="0"/>
              <a:t>의미가 더 이상 분리되지 않는 최소의 데이터 단위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B3206-DC17-4481-99A1-E7290702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2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CD85C-D510-423D-85C7-67C9E22C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관계형 데이터베이스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8C4A8-8EB2-478D-8BAB-8A5387D06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</a:t>
            </a:r>
            <a:endParaRPr lang="en-US" altLang="ko-KR" dirty="0"/>
          </a:p>
          <a:p>
            <a:pPr lvl="1"/>
            <a:r>
              <a:rPr lang="ko-KR" altLang="en-US" dirty="0" err="1"/>
              <a:t>튜플</a:t>
            </a:r>
            <a:r>
              <a:rPr lang="en-US" altLang="ko-KR" dirty="0"/>
              <a:t>, </a:t>
            </a:r>
            <a:r>
              <a:rPr lang="ko-KR" altLang="en-US" dirty="0"/>
              <a:t>레코드라고도 함</a:t>
            </a:r>
            <a:endParaRPr lang="en-US" altLang="ko-KR" dirty="0"/>
          </a:p>
          <a:p>
            <a:pPr lvl="1"/>
            <a:r>
              <a:rPr lang="ko-KR" altLang="en-US" dirty="0"/>
              <a:t>관련 있는 열의 묶음</a:t>
            </a:r>
            <a:endParaRPr lang="en-US" altLang="ko-KR" dirty="0"/>
          </a:p>
          <a:p>
            <a:pPr lvl="1"/>
            <a:r>
              <a:rPr lang="ko-KR" altLang="en-US" dirty="0"/>
              <a:t>한 테이블에 저장된 모든 행은 동일한 수의 열을 가짐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관계</a:t>
            </a:r>
            <a:endParaRPr lang="en-US" altLang="ko-KR" dirty="0"/>
          </a:p>
          <a:p>
            <a:pPr lvl="1"/>
            <a:r>
              <a:rPr lang="ko-KR" altLang="en-US" dirty="0"/>
              <a:t>두 테이블 간에 서로 연결되는 방식</a:t>
            </a:r>
            <a:endParaRPr lang="en-US" altLang="ko-KR" dirty="0"/>
          </a:p>
          <a:p>
            <a:pPr lvl="1"/>
            <a:r>
              <a:rPr lang="ko-KR" altLang="en-US" dirty="0"/>
              <a:t>데이터의 종속성을 표현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기본키</a:t>
            </a:r>
            <a:endParaRPr lang="en-US" altLang="ko-KR" dirty="0"/>
          </a:p>
          <a:p>
            <a:pPr lvl="1"/>
            <a:r>
              <a:rPr lang="ko-KR" altLang="en-US" dirty="0"/>
              <a:t>주된 식별자</a:t>
            </a:r>
            <a:endParaRPr lang="en-US" altLang="ko-KR" dirty="0"/>
          </a:p>
          <a:p>
            <a:pPr lvl="1"/>
            <a:r>
              <a:rPr lang="ko-KR" altLang="en-US" dirty="0"/>
              <a:t>한 테이블 내에서 행을 구별할 수 있는 열 또는 열의 묶음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A63204-3380-4E1D-A97A-D459E90D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074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55C921-5702-4E95-8343-229E7A1B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4C06F-81C0-4E85-8873-7989BA2E4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MySQL</a:t>
            </a:r>
          </a:p>
          <a:p>
            <a:pPr lvl="1"/>
            <a:r>
              <a:rPr lang="en-US" altLang="ko-KR" dirty="0"/>
              <a:t>1995</a:t>
            </a:r>
            <a:r>
              <a:rPr lang="ko-KR" altLang="en-US" dirty="0"/>
              <a:t>년에 발표된 오픈 소스 </a:t>
            </a:r>
            <a:r>
              <a:rPr lang="en-US" altLang="ko-KR" dirty="0"/>
              <a:t>RDBMS</a:t>
            </a:r>
          </a:p>
          <a:p>
            <a:pPr lvl="1"/>
            <a:r>
              <a:rPr lang="ko-KR" altLang="en-US" dirty="0"/>
              <a:t>웹 애플리케이션용으로 설계 및 최적화되어 모든 플랫폼에서 실행할 수 있음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대 </a:t>
            </a:r>
            <a:r>
              <a:rPr lang="en-US" altLang="ko-KR" dirty="0"/>
              <a:t>RDBMS : MySQL, Oracle, MS-SQL, PostgreSQL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SQL</a:t>
            </a:r>
          </a:p>
          <a:p>
            <a:pPr lvl="1"/>
            <a:r>
              <a:rPr lang="en-US" altLang="ko-KR" dirty="0"/>
              <a:t>IBM</a:t>
            </a:r>
            <a:r>
              <a:rPr lang="ko-KR" altLang="en-US" dirty="0"/>
              <a:t>이 </a:t>
            </a:r>
            <a:r>
              <a:rPr lang="en-US" altLang="ko-KR" dirty="0"/>
              <a:t>1970</a:t>
            </a:r>
            <a:r>
              <a:rPr lang="ko-KR" altLang="en-US" dirty="0"/>
              <a:t>년대에 개발된 </a:t>
            </a:r>
            <a:r>
              <a:rPr lang="en-US" altLang="ko-KR" dirty="0"/>
              <a:t>SEQUEL</a:t>
            </a:r>
            <a:r>
              <a:rPr lang="ko-KR" altLang="en-US" dirty="0"/>
              <a:t>을 기반으로 만들어진 언어</a:t>
            </a:r>
            <a:endParaRPr lang="en-US" altLang="ko-KR" dirty="0"/>
          </a:p>
          <a:p>
            <a:pPr lvl="1"/>
            <a:r>
              <a:rPr lang="ko-KR" altLang="en-US" dirty="0"/>
              <a:t>데이터에 접근하기 위한 가장 보편적인 수단</a:t>
            </a:r>
            <a:endParaRPr lang="en-US" altLang="ko-KR" dirty="0"/>
          </a:p>
          <a:p>
            <a:pPr lvl="1"/>
            <a:r>
              <a:rPr lang="en-US" altLang="ko-KR" dirty="0"/>
              <a:t>SQL</a:t>
            </a:r>
            <a:r>
              <a:rPr lang="ko-KR" altLang="en-US" dirty="0"/>
              <a:t>이 사용되는 클라우드 기반의 </a:t>
            </a:r>
            <a:r>
              <a:rPr lang="ko-KR" altLang="en-US" dirty="0" err="1"/>
              <a:t>머신러닝</a:t>
            </a:r>
            <a:r>
              <a:rPr lang="ko-KR" altLang="en-US" dirty="0"/>
              <a:t> 플랫폼</a:t>
            </a:r>
            <a:endParaRPr lang="en-US" altLang="ko-KR" dirty="0"/>
          </a:p>
          <a:p>
            <a:pPr lvl="2"/>
            <a:r>
              <a:rPr lang="ko-KR" altLang="en-US" dirty="0"/>
              <a:t>아마존 </a:t>
            </a:r>
            <a:r>
              <a:rPr lang="ko-KR" altLang="en-US" dirty="0" err="1"/>
              <a:t>레드시프트</a:t>
            </a:r>
            <a:r>
              <a:rPr lang="ko-KR" altLang="en-US" dirty="0"/>
              <a:t> </a:t>
            </a:r>
            <a:r>
              <a:rPr lang="en-US" altLang="ko-KR" dirty="0"/>
              <a:t>ML</a:t>
            </a:r>
          </a:p>
          <a:p>
            <a:pPr lvl="2"/>
            <a:r>
              <a:rPr lang="ko-KR" altLang="en-US" dirty="0"/>
              <a:t>구글 </a:t>
            </a:r>
            <a:r>
              <a:rPr lang="ko-KR" altLang="en-US" dirty="0" err="1"/>
              <a:t>빅쿼리</a:t>
            </a:r>
            <a:r>
              <a:rPr lang="ko-KR" altLang="en-US" dirty="0"/>
              <a:t> </a:t>
            </a:r>
            <a:r>
              <a:rPr lang="en-US" altLang="ko-KR" dirty="0"/>
              <a:t>ML</a:t>
            </a:r>
          </a:p>
          <a:p>
            <a:pPr lvl="2"/>
            <a:r>
              <a:rPr lang="ko-KR" altLang="en-US" dirty="0" err="1"/>
              <a:t>스노플레이크</a:t>
            </a:r>
            <a:endParaRPr lang="en-US" altLang="ko-KR" dirty="0"/>
          </a:p>
          <a:p>
            <a:pPr lvl="2"/>
            <a:r>
              <a:rPr lang="ko-KR" altLang="en-US" dirty="0"/>
              <a:t>오라클 클라우드 인프라 데이터 사이언스</a:t>
            </a:r>
            <a:endParaRPr lang="en-US" altLang="ko-KR" dirty="0"/>
          </a:p>
          <a:p>
            <a:pPr lvl="2"/>
            <a:r>
              <a:rPr lang="ko-KR" altLang="en-US" dirty="0"/>
              <a:t>마이크로소프트 </a:t>
            </a:r>
            <a:r>
              <a:rPr lang="en-US" altLang="ko-KR" dirty="0"/>
              <a:t>SQL </a:t>
            </a:r>
            <a:r>
              <a:rPr lang="ko-KR" altLang="en-US" dirty="0"/>
              <a:t>서버 </a:t>
            </a:r>
            <a:r>
              <a:rPr lang="ko-KR" altLang="en-US" dirty="0" err="1"/>
              <a:t>머신러닝</a:t>
            </a:r>
            <a:r>
              <a:rPr lang="ko-KR" altLang="en-US" dirty="0"/>
              <a:t> 서비스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375ECF-4596-431D-AD05-7D793D2E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704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8C1B4-DD53-4225-B1FA-ED872DC4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의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254218-50A4-483D-80A0-8333EEC8C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</a:rPr>
              <a:t>SQL</a:t>
            </a:r>
            <a:r>
              <a:rPr lang="ko-KR" altLang="en-US" dirty="0">
                <a:latin typeface="+mn-lt"/>
              </a:rPr>
              <a:t>의 역할</a:t>
            </a:r>
            <a:endParaRPr lang="en-US" altLang="ko-KR" dirty="0">
              <a:latin typeface="+mn-lt"/>
            </a:endParaRPr>
          </a:p>
          <a:p>
            <a:pPr lvl="1"/>
            <a:r>
              <a:rPr lang="ko-KR" altLang="en-US" dirty="0">
                <a:latin typeface="+mn-lt"/>
              </a:rPr>
              <a:t>관계형 데이터베이스 관리 시스템의 데이터를 관리하고 다양한 데이터 동작을 수행하는 데 사용되는 표준화된 프로그래밍 언어</a:t>
            </a:r>
            <a:endParaRPr lang="en-US" altLang="ko-KR" dirty="0">
              <a:latin typeface="+mn-lt"/>
            </a:endParaRPr>
          </a:p>
          <a:p>
            <a:pPr lvl="1"/>
            <a:r>
              <a:rPr lang="ko-KR" altLang="en-US" spc="-150" dirty="0">
                <a:latin typeface="+mn-lt"/>
              </a:rPr>
              <a:t>데이터베이스 및 테이블 생성</a:t>
            </a:r>
            <a:r>
              <a:rPr lang="en-US" altLang="ko-KR" spc="-150" dirty="0">
                <a:latin typeface="+mn-lt"/>
              </a:rPr>
              <a:t>, </a:t>
            </a:r>
            <a:r>
              <a:rPr lang="ko-KR" altLang="en-US" spc="-150" dirty="0">
                <a:latin typeface="+mn-lt"/>
              </a:rPr>
              <a:t>데이터 검색</a:t>
            </a:r>
            <a:r>
              <a:rPr lang="en-US" altLang="ko-KR" spc="-150" dirty="0">
                <a:latin typeface="+mn-lt"/>
              </a:rPr>
              <a:t>, </a:t>
            </a:r>
            <a:r>
              <a:rPr lang="ko-KR" altLang="en-US" spc="-150" dirty="0">
                <a:latin typeface="+mn-lt"/>
              </a:rPr>
              <a:t>추가</a:t>
            </a:r>
            <a:r>
              <a:rPr lang="en-US" altLang="ko-KR" spc="-150" dirty="0">
                <a:latin typeface="+mn-lt"/>
              </a:rPr>
              <a:t>, </a:t>
            </a:r>
            <a:r>
              <a:rPr lang="ko-KR" altLang="en-US" spc="-150" dirty="0">
                <a:latin typeface="+mn-lt"/>
              </a:rPr>
              <a:t>수정</a:t>
            </a:r>
            <a:r>
              <a:rPr lang="en-US" altLang="ko-KR" spc="-150" dirty="0">
                <a:latin typeface="+mn-lt"/>
              </a:rPr>
              <a:t>, </a:t>
            </a:r>
            <a:r>
              <a:rPr lang="ko-KR" altLang="en-US" spc="-150" dirty="0">
                <a:latin typeface="+mn-lt"/>
              </a:rPr>
              <a:t>삭제 및 트랜잭션 처리</a:t>
            </a:r>
            <a:r>
              <a:rPr lang="en-US" altLang="ko-KR" spc="-150" dirty="0">
                <a:latin typeface="+mn-lt"/>
              </a:rPr>
              <a:t>, </a:t>
            </a:r>
            <a:r>
              <a:rPr lang="ko-KR" altLang="en-US" spc="-150" dirty="0">
                <a:latin typeface="+mn-lt"/>
              </a:rPr>
              <a:t>보안 및 권한 제어 등 데이터베이스의 모든 측면을 관리하는데 사용됨</a:t>
            </a:r>
            <a:endParaRPr lang="en-US" altLang="ko-KR" spc="-150" dirty="0">
              <a:latin typeface="+mn-lt"/>
            </a:endParaRPr>
          </a:p>
          <a:p>
            <a:pPr lvl="1"/>
            <a:endParaRPr lang="en-US" altLang="ko-KR" dirty="0">
              <a:latin typeface="+mn-lt"/>
            </a:endParaRPr>
          </a:p>
          <a:p>
            <a:r>
              <a:rPr lang="en-US" altLang="ko-KR" dirty="0">
                <a:latin typeface="+mn-lt"/>
              </a:rPr>
              <a:t>SQL</a:t>
            </a:r>
            <a:r>
              <a:rPr lang="ko-KR" altLang="en-US" dirty="0">
                <a:latin typeface="+mn-lt"/>
              </a:rPr>
              <a:t>의 특징</a:t>
            </a:r>
            <a:endParaRPr lang="en-US" altLang="ko-KR" dirty="0">
              <a:latin typeface="+mn-lt"/>
            </a:endParaRPr>
          </a:p>
          <a:p>
            <a:pPr lvl="1"/>
            <a:r>
              <a:rPr lang="ko-KR" altLang="en-US" dirty="0">
                <a:latin typeface="+mn-lt"/>
              </a:rPr>
              <a:t>배우기 쉽고 사용하기 용이함</a:t>
            </a:r>
            <a:endParaRPr lang="en-US" altLang="ko-KR" dirty="0">
              <a:latin typeface="+mn-lt"/>
            </a:endParaRPr>
          </a:p>
          <a:p>
            <a:pPr lvl="1"/>
            <a:r>
              <a:rPr lang="ko-KR" altLang="en-US" dirty="0">
                <a:latin typeface="+mn-lt"/>
              </a:rPr>
              <a:t>데이터 연산에 대한 처리 과정이 절차적이지 않으며 집합 단위로 처리됨</a:t>
            </a:r>
            <a:endParaRPr lang="en-US" altLang="ko-KR" dirty="0">
              <a:latin typeface="+mn-lt"/>
            </a:endParaRPr>
          </a:p>
          <a:p>
            <a:pPr lvl="1"/>
            <a:r>
              <a:rPr lang="ko-KR" altLang="en-US" dirty="0">
                <a:latin typeface="+mn-lt"/>
              </a:rPr>
              <a:t>사용자 편의 중심 언어</a:t>
            </a:r>
            <a:endParaRPr lang="en-US" altLang="ko-KR" dirty="0">
              <a:latin typeface="+mn-lt"/>
            </a:endParaRPr>
          </a:p>
          <a:p>
            <a:pPr lvl="1"/>
            <a:r>
              <a:rPr lang="ko-KR" altLang="en-US" dirty="0">
                <a:latin typeface="+mn-lt"/>
              </a:rPr>
              <a:t>미국표준협회에 맞게 </a:t>
            </a:r>
            <a:r>
              <a:rPr lang="en-US" altLang="ko-KR" dirty="0">
                <a:latin typeface="+mn-lt"/>
              </a:rPr>
              <a:t>SQL</a:t>
            </a:r>
            <a:r>
              <a:rPr lang="ko-KR" altLang="en-US" dirty="0">
                <a:latin typeface="+mn-lt"/>
              </a:rPr>
              <a:t>을 작성한다면 </a:t>
            </a:r>
            <a:r>
              <a:rPr lang="en-US" altLang="ko-KR" dirty="0">
                <a:latin typeface="+mn-lt"/>
              </a:rPr>
              <a:t>Oracle, </a:t>
            </a:r>
            <a:r>
              <a:rPr lang="en-US" altLang="ko-KR" dirty="0" err="1">
                <a:latin typeface="+mn-lt"/>
              </a:rPr>
              <a:t>MySQl</a:t>
            </a:r>
            <a:r>
              <a:rPr lang="en-US" altLang="ko-KR" dirty="0">
                <a:latin typeface="+mn-lt"/>
              </a:rPr>
              <a:t>, MS-SQL, PostgreSQL, MariaDB </a:t>
            </a:r>
            <a:r>
              <a:rPr lang="ko-KR" altLang="en-US" dirty="0">
                <a:latin typeface="+mn-lt"/>
              </a:rPr>
              <a:t>등 상용 </a:t>
            </a:r>
            <a:r>
              <a:rPr lang="en-US" altLang="ko-KR" dirty="0">
                <a:latin typeface="+mn-lt"/>
              </a:rPr>
              <a:t>RDBMS </a:t>
            </a:r>
            <a:r>
              <a:rPr lang="ko-KR" altLang="en-US" dirty="0">
                <a:latin typeface="+mn-lt"/>
              </a:rPr>
              <a:t>간에 호환과 전환이 용이함</a:t>
            </a: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02DA8-FB65-4A83-BC33-11BAF1A2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77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A5176-BA07-4D7B-A312-43B1148B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문의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907D71-DE66-4214-ACEA-BFF85D871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/>
              <a:t>데이터 </a:t>
            </a:r>
            <a:r>
              <a:rPr lang="ko-KR" altLang="en-US" dirty="0" err="1"/>
              <a:t>정의어</a:t>
            </a:r>
            <a:r>
              <a:rPr lang="en-US" altLang="ko-KR" dirty="0"/>
              <a:t>(DDL)</a:t>
            </a:r>
          </a:p>
          <a:p>
            <a:pPr lvl="1">
              <a:lnSpc>
                <a:spcPct val="120000"/>
              </a:lnSpc>
            </a:pPr>
            <a:r>
              <a:rPr lang="ko-KR" altLang="en-US" dirty="0"/>
              <a:t>데이터베이스의 구조를 정의할  때 사용하는 언어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ko-KR" altLang="en-US" dirty="0"/>
              <a:t>데이터베이스나 테이블</a:t>
            </a:r>
            <a:r>
              <a:rPr lang="en-US" altLang="ko-KR" dirty="0"/>
              <a:t>, </a:t>
            </a:r>
            <a:r>
              <a:rPr lang="ko-KR" altLang="en-US" dirty="0"/>
              <a:t>인덱스와 같은 데이터베이스 객체를 생성</a:t>
            </a:r>
            <a:r>
              <a:rPr lang="en-US" altLang="ko-KR" dirty="0"/>
              <a:t>, </a:t>
            </a:r>
            <a:r>
              <a:rPr lang="ko-KR" altLang="en-US" dirty="0"/>
              <a:t>변경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삭제할 때 사용함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103AC-32F4-4F63-9B98-2F2D3AB2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4D800E8-7081-43E5-AAF0-CDD019135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960585"/>
              </p:ext>
            </p:extLst>
          </p:nvPr>
        </p:nvGraphicFramePr>
        <p:xfrm>
          <a:off x="1559859" y="3429000"/>
          <a:ext cx="60242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42">
                  <a:extLst>
                    <a:ext uri="{9D8B030D-6E8A-4147-A177-3AD203B41FA5}">
                      <a16:colId xmlns:a16="http://schemas.microsoft.com/office/drawing/2014/main" val="88583097"/>
                    </a:ext>
                  </a:extLst>
                </a:gridCol>
                <a:gridCol w="4823640">
                  <a:extLst>
                    <a:ext uri="{9D8B030D-6E8A-4147-A177-3AD203B41FA5}">
                      <a16:colId xmlns:a16="http://schemas.microsoft.com/office/drawing/2014/main" val="11057863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정의어</a:t>
                      </a:r>
                      <a:r>
                        <a:rPr lang="en-US" altLang="ko-KR" dirty="0"/>
                        <a:t>(DDL)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32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CREATE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데이터베이스 객체를 생성한다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02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생성된 객체의 구조를 변경한다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DROP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생성된 객체를 삭제한다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10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TRUNCATE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테이블에 있는 데이터를 모두 삭제한다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596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58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E3FDF-2753-4245-A934-315C835F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문의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B27A0-FFFD-4A9B-B91F-70F0ED410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(DML)</a:t>
            </a:r>
          </a:p>
          <a:p>
            <a:pPr lvl="1"/>
            <a:r>
              <a:rPr lang="ko-KR" altLang="en-US" dirty="0"/>
              <a:t>데이터를 관리하는 데 사용하는 언어</a:t>
            </a:r>
            <a:endParaRPr lang="en-US" altLang="ko-KR" dirty="0"/>
          </a:p>
          <a:p>
            <a:pPr lvl="1"/>
            <a:r>
              <a:rPr lang="ko-KR" altLang="en-US" dirty="0"/>
              <a:t>데이터를 조작하는 레코드 추가</a:t>
            </a:r>
            <a:r>
              <a:rPr lang="en-US" altLang="ko-KR" dirty="0"/>
              <a:t>, </a:t>
            </a:r>
            <a:r>
              <a:rPr lang="ko-KR" altLang="en-US" dirty="0"/>
              <a:t>삭제하거나 데이터를 변경할 때 사용함</a:t>
            </a:r>
            <a:endParaRPr lang="en-US" altLang="ko-KR" dirty="0"/>
          </a:p>
          <a:p>
            <a:pPr lvl="1"/>
            <a:r>
              <a:rPr lang="ko-KR" altLang="en-US" dirty="0"/>
              <a:t>데이터를 검색하는 데 상용하는 </a:t>
            </a:r>
            <a:r>
              <a:rPr lang="en-US" altLang="ko-KR" dirty="0"/>
              <a:t>SELECT</a:t>
            </a:r>
            <a:r>
              <a:rPr lang="ko-KR" altLang="en-US" dirty="0"/>
              <a:t>문은 데이터 </a:t>
            </a:r>
            <a:r>
              <a:rPr lang="ko-KR" altLang="en-US" dirty="0" err="1"/>
              <a:t>조작어에</a:t>
            </a:r>
            <a:r>
              <a:rPr lang="ko-KR" altLang="en-US" dirty="0"/>
              <a:t> 포함하기도 하고 </a:t>
            </a:r>
            <a:br>
              <a:rPr lang="en-US" altLang="ko-KR" dirty="0"/>
            </a:br>
            <a:r>
              <a:rPr lang="ko-KR" altLang="en-US" dirty="0"/>
              <a:t>데이터 </a:t>
            </a:r>
            <a:r>
              <a:rPr lang="ko-KR" altLang="en-US" dirty="0" err="1"/>
              <a:t>질의어</a:t>
            </a:r>
            <a:r>
              <a:rPr lang="en-US" altLang="ko-KR" dirty="0"/>
              <a:t>(DQL)</a:t>
            </a:r>
            <a:r>
              <a:rPr lang="ko-KR" altLang="en-US" dirty="0"/>
              <a:t>로 분리하기도 함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6250A-BBA8-461B-B0F8-63345720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34F235C-57C4-4D6C-93C1-2BD04B2C7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380665"/>
              </p:ext>
            </p:extLst>
          </p:nvPr>
        </p:nvGraphicFramePr>
        <p:xfrm>
          <a:off x="1559859" y="3429000"/>
          <a:ext cx="602428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42">
                  <a:extLst>
                    <a:ext uri="{9D8B030D-6E8A-4147-A177-3AD203B41FA5}">
                      <a16:colId xmlns:a16="http://schemas.microsoft.com/office/drawing/2014/main" val="88583097"/>
                    </a:ext>
                  </a:extLst>
                </a:gridCol>
                <a:gridCol w="4823640">
                  <a:extLst>
                    <a:ext uri="{9D8B030D-6E8A-4147-A177-3AD203B41FA5}">
                      <a16:colId xmlns:a16="http://schemas.microsoft.com/office/drawing/2014/main" val="110578632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조작어</a:t>
                      </a:r>
                      <a:r>
                        <a:rPr lang="en-US" altLang="ko-KR" dirty="0"/>
                        <a:t>(DML)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329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SELECT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테이블에서 조건에 맞는 데이터를 검색한다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02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INSERT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테이블에 새로운 레코드를 삽입한다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3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테이블에 있는 데이터 값을 수정한다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108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테이블에 있는 레코드를 삭제한다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596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585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719B6-097B-424A-BB8D-6573FC2F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문의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BE922-8EA5-43A5-8FC5-4BE7A793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en-US" altLang="ko-KR" dirty="0"/>
              <a:t>(DCL)</a:t>
            </a:r>
          </a:p>
          <a:p>
            <a:pPr lvl="1"/>
            <a:r>
              <a:rPr lang="ko-KR" altLang="en-US" dirty="0"/>
              <a:t>데이터에 대한 액세스를 제어하기 위한언어</a:t>
            </a:r>
            <a:endParaRPr lang="en-US" altLang="ko-KR" dirty="0"/>
          </a:p>
          <a:p>
            <a:pPr lvl="1"/>
            <a:r>
              <a:rPr lang="ko-KR" altLang="en-US" dirty="0"/>
              <a:t>데이터베이스 객체나 데이터에 대한 권한을 관리하는 데 사용함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트랜잭션 </a:t>
            </a:r>
            <a:r>
              <a:rPr lang="ko-KR" altLang="en-US" dirty="0" err="1"/>
              <a:t>제어어</a:t>
            </a:r>
            <a:r>
              <a:rPr lang="en-US" altLang="ko-KR" dirty="0"/>
              <a:t>(TCL)</a:t>
            </a:r>
          </a:p>
          <a:p>
            <a:pPr lvl="1"/>
            <a:r>
              <a:rPr lang="en-US" altLang="ko-KR" dirty="0"/>
              <a:t>INSERT, SELECT, DELETE, UPDATE</a:t>
            </a:r>
            <a:r>
              <a:rPr lang="ko-KR" altLang="en-US" dirty="0"/>
              <a:t>문에 의해 수행된 변경 사항을 관리하는데 사용됨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ACEADD-972D-4FD2-A4B6-98277668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076A-48B0-45B5-8C69-5A57CC6A3632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663A5-E6FD-482D-8BD7-A43718FAA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767506"/>
              </p:ext>
            </p:extLst>
          </p:nvPr>
        </p:nvGraphicFramePr>
        <p:xfrm>
          <a:off x="392861" y="3353816"/>
          <a:ext cx="8358277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3667008700"/>
                    </a:ext>
                  </a:extLst>
                </a:gridCol>
                <a:gridCol w="1194372">
                  <a:extLst>
                    <a:ext uri="{9D8B030D-6E8A-4147-A177-3AD203B41FA5}">
                      <a16:colId xmlns:a16="http://schemas.microsoft.com/office/drawing/2014/main" val="1612650837"/>
                    </a:ext>
                  </a:extLst>
                </a:gridCol>
                <a:gridCol w="5276050">
                  <a:extLst>
                    <a:ext uri="{9D8B030D-6E8A-4147-A177-3AD203B41FA5}">
                      <a16:colId xmlns:a16="http://schemas.microsoft.com/office/drawing/2014/main" val="289182086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제어어</a:t>
                      </a:r>
                      <a:r>
                        <a:rPr lang="en-US" altLang="ko-KR" dirty="0"/>
                        <a:t>(DCL), </a:t>
                      </a:r>
                      <a:r>
                        <a:rPr lang="ko-KR" altLang="en-US" dirty="0"/>
                        <a:t>트랜잭션 </a:t>
                      </a:r>
                      <a:r>
                        <a:rPr lang="ko-KR" altLang="en-US" dirty="0" err="1"/>
                        <a:t>제어어</a:t>
                      </a:r>
                      <a:r>
                        <a:rPr lang="en-US" altLang="ko-KR" dirty="0"/>
                        <a:t>(TCL)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733427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</a:t>
                      </a:r>
                      <a:r>
                        <a:rPr lang="ko-KR" altLang="en-US" dirty="0" err="1"/>
                        <a:t>제어어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(DCL)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GRANT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특정한 사용자 또는 객체에 대해 생성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수정 등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작업을 할 수 있도록 권한을 부여한다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961054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REVOKE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GRANT</a:t>
                      </a:r>
                      <a:r>
                        <a:rPr lang="ko-KR" altLang="en-US" dirty="0"/>
                        <a:t>문으로 부여한 권한을 철회할 때 사용한다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179244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트랜잭션 </a:t>
                      </a:r>
                      <a:r>
                        <a:rPr lang="ko-KR" altLang="en-US" dirty="0" err="1"/>
                        <a:t>제어어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(TCL)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COMMIT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트랜잭션 작업내용을 실제 데이터베이스에 영구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지정한다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85381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ROLLBACK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트랜잭션 처리 과정에서 발생한 변경 사항을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취소한다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77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59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ptos Display"/>
        <a:ea typeface="맑은 고딕"/>
        <a:cs typeface=""/>
      </a:majorFont>
      <a:minorFont>
        <a:latin typeface="Aptos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scene3d>
          <a:camera prst="orthographicFront"/>
          <a:lightRig rig="threePt" dir="t"/>
        </a:scene3d>
        <a:sp3d>
          <a:bevelT/>
        </a:sp3d>
      </a:spPr>
      <a:bodyPr rtlCol="0" anchor="ctr"/>
      <a:lstStyle>
        <a:defPPr algn="ctr">
          <a:defRPr b="1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63036649F7E9143B0C49190CFF4E3D7" ma:contentTypeVersion="13" ma:contentTypeDescription="새 문서를 만듭니다." ma:contentTypeScope="" ma:versionID="9a2b3cbeaa1b70a7ab3554cde092f2b7">
  <xsd:schema xmlns:xsd="http://www.w3.org/2001/XMLSchema" xmlns:xs="http://www.w3.org/2001/XMLSchema" xmlns:p="http://schemas.microsoft.com/office/2006/metadata/properties" xmlns:ns3="7bd3bce8-b9bb-40d2-814c-e73dabd10b92" targetNamespace="http://schemas.microsoft.com/office/2006/metadata/properties" ma:root="true" ma:fieldsID="b60e012f222c91fab2c7a26eba74cb25" ns3:_="">
    <xsd:import namespace="7bd3bce8-b9bb-40d2-814c-e73dabd10b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_activity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3bce8-b9bb-40d2-814c-e73dabd10b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d3bce8-b9bb-40d2-814c-e73dabd10b92" xsi:nil="true"/>
  </documentManagement>
</p:properties>
</file>

<file path=customXml/itemProps1.xml><?xml version="1.0" encoding="utf-8"?>
<ds:datastoreItem xmlns:ds="http://schemas.openxmlformats.org/officeDocument/2006/customXml" ds:itemID="{7E8E6C5A-BE17-4608-87FF-1CB0684A5B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d3bce8-b9bb-40d2-814c-e73dabd10b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4458B1-3A72-4F51-9088-FB6F2C8C29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13557E-18F7-42BD-B973-C0971763E841}">
  <ds:schemaRefs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7bd3bce8-b9bb-40d2-814c-e73dabd10b92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416</TotalTime>
  <Words>715</Words>
  <Application>Microsoft Office PowerPoint</Application>
  <PresentationFormat>화면 슬라이드 쇼(4:3)</PresentationFormat>
  <Paragraphs>152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함초롬돋움</vt:lpstr>
      <vt:lpstr>Arial</vt:lpstr>
      <vt:lpstr>Office 테마</vt:lpstr>
      <vt:lpstr>기업솔루션프로젝트 - 1주차 - </vt:lpstr>
      <vt:lpstr>데이터에 관심을 가져야 하는 이유</vt:lpstr>
      <vt:lpstr>데이터에 관심을 가져야 하는 이유</vt:lpstr>
      <vt:lpstr>데이터의 형태</vt:lpstr>
      <vt:lpstr>데이터의 형태</vt:lpstr>
      <vt:lpstr>데이터베이스와 데이터베이스 관리 시스템</vt:lpstr>
      <vt:lpstr>관계형 데이터베이스</vt:lpstr>
      <vt:lpstr>관계형 데이터베이스</vt:lpstr>
      <vt:lpstr>MySQL</vt:lpstr>
      <vt:lpstr>SQL의 개념</vt:lpstr>
      <vt:lpstr>SQL문의 종류</vt:lpstr>
      <vt:lpstr>SQL문의 종류</vt:lpstr>
      <vt:lpstr>SQL문의 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박영환</dc:creator>
  <cp:lastModifiedBy>YUHAN</cp:lastModifiedBy>
  <cp:revision>33</cp:revision>
  <dcterms:created xsi:type="dcterms:W3CDTF">2026-04-30T02:32:41Z</dcterms:created>
  <dcterms:modified xsi:type="dcterms:W3CDTF">2026-08-25T01:32:26Z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0x010100663036649F7E9143B0C49190CFF4E3D7</vt:lpwstr>
  </property>
</Properties>
</file>