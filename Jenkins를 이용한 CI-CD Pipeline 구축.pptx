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415" userDrawn="1">
          <p15:clr>
            <a:srgbClr val="A4A3A4"/>
          </p15:clr>
        </p15:guide>
        <p15:guide id="3" pos="3940" userDrawn="1">
          <p15:clr>
            <a:srgbClr val="A4A3A4"/>
          </p15:clr>
        </p15:guide>
        <p15:guide id="4" pos="4040" userDrawn="1">
          <p15:clr>
            <a:srgbClr val="A4A3A4"/>
          </p15:clr>
        </p15:guide>
        <p15:guide id="5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6" y="66"/>
      </p:cViewPr>
      <p:guideLst>
        <p:guide pos="415"/>
        <p:guide pos="3940"/>
        <p:guide pos="40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2D3C34-A87E-4E4B-944F-D1641EB450F1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9B7B57-E826-4D9B-9022-BEDFEA26F6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2573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806991-6676-4962-AFB2-4A9B299D23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>
            <a:normAutofit/>
          </a:bodyPr>
          <a:lstStyle>
            <a:lvl1pPr algn="ctr">
              <a:lnSpc>
                <a:spcPct val="150000"/>
              </a:lnSpc>
              <a:defRPr sz="4000" b="1">
                <a:solidFill>
                  <a:srgbClr val="009999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520F2CB-A0FA-4CA5-B45E-8336A5BA74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2400" b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95936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0B0A2D-0C45-47E2-8B96-2D54EBEF4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99" y="365125"/>
            <a:ext cx="11932800" cy="633600"/>
          </a:xfrm>
        </p:spPr>
        <p:txBody>
          <a:bodyPr>
            <a:normAutofit/>
          </a:bodyPr>
          <a:lstStyle>
            <a:lvl1pPr>
              <a:defRPr sz="2200" b="1">
                <a:solidFill>
                  <a:srgbClr val="009999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CE1FE0-CEC0-478B-A0F0-A32622208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600" y="1069337"/>
            <a:ext cx="11932800" cy="5216400"/>
          </a:xfrm>
        </p:spPr>
        <p:txBody>
          <a:bodyPr anchor="t"/>
          <a:lstStyle>
            <a:lvl1pPr>
              <a:lnSpc>
                <a:spcPct val="100000"/>
              </a:lnSpc>
              <a:defRPr sz="2000" b="1"/>
            </a:lvl1pPr>
            <a:lvl2pPr marL="685800" indent="-228600">
              <a:lnSpc>
                <a:spcPct val="100000"/>
              </a:lnSpc>
              <a:buFont typeface="맑은 고딕" panose="020B0503020000020004" pitchFamily="50" charset="-127"/>
              <a:buChar char="-"/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09A023-BB9A-4DA6-9BCC-73FE17AC9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75184"/>
            <a:ext cx="3451799" cy="365125"/>
          </a:xfrm>
        </p:spPr>
        <p:txBody>
          <a:bodyPr/>
          <a:lstStyle>
            <a:lvl1pPr>
              <a:defRPr sz="1600" b="1"/>
            </a:lvl1pPr>
          </a:lstStyle>
          <a:p>
            <a:fld id="{D9586F03-299E-46B0-8EA8-4C9C8EE382C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3222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C4B78A-B4C1-4C6F-A3CD-60AE8849B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030539-FA1C-4275-B3CB-11C0439437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5946AD-F999-40D2-9E7F-FAF1899DA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02E9B7-057E-4C81-9E4D-E9343AA4A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2A51C7-1646-433A-AE86-6A27D8477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4662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708068-E4F7-441F-9045-6EBE69391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C433B0-3BA5-44EB-9BDD-37E6D8C9EE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397A4B-C6D1-4B7C-B9FD-AAF7BF2EAA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624EE5-2F0E-41C6-BFE1-787CA5FBE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A40C223-69B6-48FE-8AA4-E55205AB2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23A5F48-F511-4B93-ABD2-3FB6B9218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3164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96A722-A6FF-4A8C-AE15-58BCAE468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4128951-94CA-4877-BF6D-5240FE2122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83B349C-3B2F-4422-931E-05637CB84E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FD3CB72-6FAE-4A17-9BB8-4B4230545B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4783D53-449D-4FAE-8E11-1779333021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829028A-539D-4857-BD71-BAEDE1F27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4D988B9-1E33-4ACA-A45B-4CCD14BA6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DE51894-39D5-4B0C-96E8-FCA3D3494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0632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3CEDD2-81A3-4CF5-B705-53F1DFE58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CA96CC9-5DBD-4EE7-A5B3-099C916D2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CBA012D-A95C-4E1E-BEB1-4EDF6AFFC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167AAA-3403-4C4E-A263-CAE6BDF28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4786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E5B87E6-18E7-4302-9CB6-440600F12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36E4A1E-4EF9-4580-8560-7C7CB35C3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8C9E3D-2D14-408F-A068-9E5FB34EE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1986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4F4191-3D77-479E-A54F-BFC4347B7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7A385A-2A53-4E33-9457-7E4222DF3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45C35C4-D48E-4DBD-BDFB-827BDCA026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310002-D63E-43CD-A16A-5D7F2F85E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6F51CF-D28E-43C4-8411-BF10014A3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067F34-D856-4344-AB16-DFB8DAB3D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7377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0C62D-88CC-45D1-90D2-FE92AE7E4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38CE9CA-6C43-47E6-9EDA-36D9774EC3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C3D055-0ADE-4E5A-AEC9-F0165B9A10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AA139E4-0DCE-40DD-BA1E-2745704D4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2B41C8-12AF-4F4A-AD1B-85C25F886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715270-A5F1-40C5-BAB9-B479B649B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5877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20A271-2DB2-434B-8A51-2EB752DA6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20B3412-8300-4EE4-A686-31901F6FBE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5504B3-983D-4311-BD0D-0636236BE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1CBA8A-4DFF-41E3-89FE-AAAF74E40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6CB677-5335-4EBC-9BE1-36308324B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6909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37671F2-0284-4D16-BF24-A336F4D55C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4BA91B7-2E32-43C9-BD4C-13888C726C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D7A0D9-A7A4-4255-B899-5BFC2F1BD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7A4787-4159-4945-94B2-35260397E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72410B-2346-4AA8-B69C-E787C2C14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844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B1CBDF9-4A80-49B6-AFE9-BE1918EA1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157D7A-21E3-48A6-8BEE-D68DDF510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C39CFB-24BF-474E-932C-77679196E0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211994-D31F-4873-AD1B-1F20D0D67B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477641-FF1F-457E-B24F-E38848C72C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1pPr>
          </a:lstStyle>
          <a:p>
            <a:fld id="{D9586F03-299E-46B0-8EA8-4C9C8EE382C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908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tx1"/>
          </a:solidFill>
          <a:latin typeface="Verdana" panose="020B0604030504040204" pitchFamily="34" charset="0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Verdana" panose="020B0604030504040204" pitchFamily="34" charset="0"/>
          <a:ea typeface="HY헤드라인M" panose="02030600000101010101" pitchFamily="18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Verdana" panose="020B0604030504040204" pitchFamily="34" charset="0"/>
          <a:ea typeface="HY헤드라인M" panose="02030600000101010101" pitchFamily="18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Verdana" panose="020B0604030504040204" pitchFamily="34" charset="0"/>
          <a:ea typeface="HY헤드라인M" panose="02030600000101010101" pitchFamily="18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Verdana" panose="020B0604030504040204" pitchFamily="34" charset="0"/>
          <a:ea typeface="HY헤드라인M" panose="02030600000101010101" pitchFamily="18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Verdana" panose="020B0604030504040204" pitchFamily="34" charset="0"/>
          <a:ea typeface="HY헤드라인M" panose="02030600000101010101" pitchFamily="18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ithub.com/ko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12BC80-8AC5-439E-A28C-146E29DC60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Jenkins</a:t>
            </a:r>
            <a:r>
              <a:rPr lang="ko-KR" altLang="en-US" dirty="0"/>
              <a:t>를 이용한 </a:t>
            </a:r>
            <a:br>
              <a:rPr lang="en-US" altLang="ko-KR" dirty="0"/>
            </a:br>
            <a:r>
              <a:rPr lang="en-US" altLang="ko-KR" dirty="0"/>
              <a:t>CI/CD Pipeline </a:t>
            </a:r>
            <a:r>
              <a:rPr lang="ko-KR" altLang="en-US" dirty="0"/>
              <a:t>구축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46DABBE-9D3F-4FC1-8CF1-F4784EED07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/>
              <a:t>유한대학교 </a:t>
            </a:r>
            <a:r>
              <a:rPr lang="ko-KR" altLang="en-US" sz="1600" dirty="0" err="1"/>
              <a:t>컴퓨터소프트웨어공학과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ko-KR" altLang="en-US" sz="1600" dirty="0"/>
              <a:t>박 영 환</a:t>
            </a:r>
          </a:p>
        </p:txBody>
      </p:sp>
    </p:spTree>
    <p:extLst>
      <p:ext uri="{BB962C8B-B14F-4D97-AF65-F5344CB8AC3E}">
        <p14:creationId xmlns:p14="http://schemas.microsoft.com/office/powerpoint/2010/main" val="3214894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7E5D84-1EC5-48D3-864D-73947E8FD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소프트웨어 개발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F87F04-9FFE-4B84-AA81-A42807FE8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소프트웨어 엔지니어링의 본질과 </a:t>
            </a:r>
            <a:r>
              <a:rPr lang="en-US" altLang="ko-KR" dirty="0"/>
              <a:t>CI/CD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역할</a:t>
            </a:r>
            <a:endParaRPr lang="en-US" altLang="ko-KR" dirty="0"/>
          </a:p>
          <a:p>
            <a:pPr lvl="1"/>
            <a:r>
              <a:rPr lang="ko-KR" altLang="en-US" dirty="0"/>
              <a:t>소프트웨어 엔지니어링의 핵심 목표를 사용자 가치 전달로 정의함</a:t>
            </a:r>
            <a:endParaRPr lang="en-US" altLang="ko-KR" dirty="0"/>
          </a:p>
          <a:p>
            <a:pPr lvl="2"/>
            <a:r>
              <a:rPr lang="ko-KR" altLang="en-US" dirty="0"/>
              <a:t>단순 코드 작성을 넘어 가치 전달을 위한 필수 활동 존재를 강조</a:t>
            </a:r>
            <a:endParaRPr lang="en-US" altLang="ko-KR" dirty="0"/>
          </a:p>
          <a:p>
            <a:pPr lvl="2"/>
            <a:r>
              <a:rPr lang="ko-KR" altLang="en-US" dirty="0"/>
              <a:t>코드를 소프트웨어로 변환하고 정상 실행 여부를 검증함</a:t>
            </a:r>
            <a:endParaRPr lang="en-US" altLang="ko-KR" dirty="0"/>
          </a:p>
          <a:p>
            <a:pPr lvl="1"/>
            <a:r>
              <a:rPr lang="ko-KR" altLang="en-US" dirty="0"/>
              <a:t>소프트웨어를 사용자가 실제 사용할 수 있는 상태로 전환</a:t>
            </a:r>
            <a:endParaRPr lang="en-US" altLang="ko-KR" dirty="0"/>
          </a:p>
          <a:p>
            <a:pPr lvl="1"/>
            <a:r>
              <a:rPr lang="en-US" altLang="ko-KR" dirty="0"/>
              <a:t>CI/CD</a:t>
            </a:r>
            <a:r>
              <a:rPr lang="ko-KR" altLang="en-US" dirty="0"/>
              <a:t>를 소프트웨어 유형과 무관하게 적용되는 보편적 해결책으로 제시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소프트웨어 개발의 특성</a:t>
            </a:r>
            <a:endParaRPr lang="en-US" altLang="ko-KR" dirty="0"/>
          </a:p>
          <a:p>
            <a:pPr lvl="1"/>
            <a:r>
              <a:rPr lang="ko-KR" altLang="en-US" dirty="0"/>
              <a:t>소프트웨어 개발 본연의 문제 영역 탐구</a:t>
            </a:r>
            <a:endParaRPr lang="en-US" altLang="ko-KR" dirty="0"/>
          </a:p>
          <a:p>
            <a:pPr lvl="2"/>
            <a:r>
              <a:rPr lang="en-US" altLang="ko-KR" dirty="0"/>
              <a:t>CI/CD </a:t>
            </a:r>
            <a:r>
              <a:rPr lang="ko-KR" altLang="en-US" dirty="0"/>
              <a:t>도입에 앞서 소프트웨어 개발의 내재적 특성을 먼저 파악함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627D70-4485-4A46-8931-9F7B7251C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2</a:t>
            </a:fld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34C549F8-F403-452B-B714-15F206F91DA0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4665132" y="5416061"/>
            <a:ext cx="49673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44B26DC-A480-43BF-AF58-DD2552FA4EFE}"/>
              </a:ext>
            </a:extLst>
          </p:cNvPr>
          <p:cNvGrpSpPr/>
          <p:nvPr/>
        </p:nvGrpSpPr>
        <p:grpSpPr>
          <a:xfrm>
            <a:off x="3189132" y="4958861"/>
            <a:ext cx="5421468" cy="914400"/>
            <a:chOff x="2762733" y="3429000"/>
            <a:chExt cx="5421468" cy="91440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6954E232-1623-4322-A9D6-738750039032}"/>
                </a:ext>
              </a:extLst>
            </p:cNvPr>
            <p:cNvSpPr/>
            <p:nvPr/>
          </p:nvSpPr>
          <p:spPr>
            <a:xfrm>
              <a:off x="2762733" y="3429000"/>
              <a:ext cx="1476000" cy="914400"/>
            </a:xfrm>
            <a:prstGeom prst="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latin typeface="Verdana" panose="020B0604030504040204" pitchFamily="34" charset="0"/>
                  <a:ea typeface="HY헤드라인M" panose="02030600000101010101" pitchFamily="18" charset="-127"/>
                </a:rPr>
                <a:t>코드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41C57B23-6B3D-4D01-B4B6-D05DE3C4A272}"/>
                </a:ext>
              </a:extLst>
            </p:cNvPr>
            <p:cNvSpPr/>
            <p:nvPr/>
          </p:nvSpPr>
          <p:spPr>
            <a:xfrm>
              <a:off x="4735467" y="3429000"/>
              <a:ext cx="1476000" cy="914400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latin typeface="Verdana" panose="020B0604030504040204" pitchFamily="34" charset="0"/>
                  <a:ea typeface="HY헤드라인M" panose="02030600000101010101" pitchFamily="18" charset="-127"/>
                </a:rPr>
                <a:t>소프트웨어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1B85B86-1330-4FAE-96E3-D2C36744B9A7}"/>
                </a:ext>
              </a:extLst>
            </p:cNvPr>
            <p:cNvSpPr/>
            <p:nvPr/>
          </p:nvSpPr>
          <p:spPr>
            <a:xfrm>
              <a:off x="6708201" y="3429000"/>
              <a:ext cx="1476000" cy="914400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latin typeface="Verdana" panose="020B0604030504040204" pitchFamily="34" charset="0"/>
                  <a:ea typeface="HY헤드라인M" panose="02030600000101010101" pitchFamily="18" charset="-127"/>
                </a:rPr>
                <a:t>가치</a:t>
              </a:r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DFBF7837-2DD9-4D1E-92FC-324C46FC97AB}"/>
                </a:ext>
              </a:extLst>
            </p:cNvPr>
            <p:cNvCxnSpPr>
              <a:stCxn id="6" idx="3"/>
              <a:endCxn id="7" idx="1"/>
            </p:cNvCxnSpPr>
            <p:nvPr/>
          </p:nvCxnSpPr>
          <p:spPr>
            <a:xfrm>
              <a:off x="6211467" y="3886200"/>
              <a:ext cx="496734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74460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1B474B-DF58-4A52-9DB9-D57EA1F20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소프트웨어 개발의 특성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0B3776-39BF-420F-9BD7-5507247A9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복잡성과 변화</a:t>
            </a:r>
            <a:endParaRPr lang="en-US" altLang="ko-KR" dirty="0"/>
          </a:p>
          <a:p>
            <a:pPr lvl="1"/>
            <a:r>
              <a:rPr lang="ko-KR" altLang="en-US" dirty="0"/>
              <a:t>소프트웨어 구성 요소의 다기능성 및 상호 작용으로 예상치 못한 동작이 발생</a:t>
            </a:r>
            <a:endParaRPr lang="en-US" altLang="ko-KR" dirty="0"/>
          </a:p>
          <a:p>
            <a:pPr lvl="1"/>
            <a:r>
              <a:rPr lang="ko-KR" altLang="en-US" dirty="0"/>
              <a:t>시장 환경</a:t>
            </a:r>
            <a:r>
              <a:rPr lang="en-US" altLang="ko-KR" dirty="0"/>
              <a:t>, </a:t>
            </a:r>
            <a:r>
              <a:rPr lang="ko-KR" altLang="en-US" dirty="0"/>
              <a:t>사용자 니즈</a:t>
            </a:r>
            <a:r>
              <a:rPr lang="en-US" altLang="ko-KR" dirty="0"/>
              <a:t>, </a:t>
            </a:r>
            <a:r>
              <a:rPr lang="ko-KR" altLang="en-US" dirty="0"/>
              <a:t>요건 등의 지속적 변화를 강조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품질과 기대치</a:t>
            </a:r>
            <a:endParaRPr lang="en-US" altLang="ko-KR" dirty="0"/>
          </a:p>
          <a:p>
            <a:pPr lvl="1"/>
            <a:r>
              <a:rPr lang="ko-KR" altLang="en-US" dirty="0"/>
              <a:t>단순 실행을 넘어 정상 동작 여부의 중요성을 제시</a:t>
            </a:r>
            <a:endParaRPr lang="en-US" altLang="ko-KR" dirty="0"/>
          </a:p>
          <a:p>
            <a:pPr lvl="1"/>
            <a:r>
              <a:rPr lang="ko-KR" altLang="en-US" dirty="0"/>
              <a:t>가볍고 빠른 실행</a:t>
            </a:r>
            <a:r>
              <a:rPr lang="en-US" altLang="ko-KR" dirty="0"/>
              <a:t>, </a:t>
            </a:r>
            <a:r>
              <a:rPr lang="ko-KR" altLang="en-US" dirty="0"/>
              <a:t>프라이버시 보호 등 높아진 사용자 기대치에 부응함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피할 수 없는 시행착오</a:t>
            </a:r>
            <a:endParaRPr lang="en-US" altLang="ko-KR" dirty="0"/>
          </a:p>
          <a:p>
            <a:pPr lvl="1"/>
            <a:r>
              <a:rPr lang="ko-KR" altLang="en-US" dirty="0"/>
              <a:t>복잡하고 빠른 변화 속에서 사전 완벽 계획의 불가능성을 지적</a:t>
            </a:r>
            <a:endParaRPr lang="en-US" altLang="ko-KR" dirty="0"/>
          </a:p>
          <a:p>
            <a:pPr lvl="1"/>
            <a:r>
              <a:rPr lang="ko-KR" altLang="en-US" dirty="0"/>
              <a:t>반복적으로 시행착오를 통해 목표 결과에 접근함</a:t>
            </a:r>
            <a:endParaRPr lang="en-US" altLang="ko-KR" dirty="0"/>
          </a:p>
          <a:p>
            <a:pPr lvl="1"/>
            <a:r>
              <a:rPr lang="ko-KR" altLang="en-US" dirty="0"/>
              <a:t>소프트웨어 개발이 지속적으로 진행됨으로 설명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C04F56-97A8-4C18-A94A-CA3D0C39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9114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4A0101-BF7B-41FF-B32E-1E3A06644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CI/CD - 1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C3C815-29DD-4D55-8E83-5D9F01C4B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소프트웨어 개발 생명 주기</a:t>
            </a:r>
            <a:r>
              <a:rPr lang="en-US" altLang="ko-KR" dirty="0"/>
              <a:t>(SDLC)</a:t>
            </a:r>
          </a:p>
          <a:p>
            <a:pPr lvl="1"/>
            <a:r>
              <a:rPr lang="ko-KR" altLang="en-US" dirty="0"/>
              <a:t>복잡한 스텝의 반복을 거치는 소프트웨어 개발 수명 주기를 정의</a:t>
            </a:r>
            <a:endParaRPr lang="en-US" altLang="ko-KR" dirty="0"/>
          </a:p>
          <a:p>
            <a:pPr lvl="1"/>
            <a:r>
              <a:rPr lang="ko-KR" altLang="en-US" dirty="0"/>
              <a:t>주기의 지속적 반복을 통해 사용자에게 가치를 전달하는 활동으로 규정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CI/CD</a:t>
            </a:r>
            <a:r>
              <a:rPr lang="ko-KR" altLang="en-US" dirty="0"/>
              <a:t>의 역할 및 구조</a:t>
            </a:r>
            <a:endParaRPr lang="en-US" altLang="ko-KR" dirty="0"/>
          </a:p>
          <a:p>
            <a:pPr lvl="1"/>
            <a:r>
              <a:rPr lang="en-US" altLang="ko-KR" dirty="0"/>
              <a:t>CI/CD</a:t>
            </a:r>
            <a:r>
              <a:rPr lang="ko-KR" altLang="en-US" dirty="0"/>
              <a:t>의 기본 역할</a:t>
            </a:r>
            <a:endParaRPr lang="en-US" altLang="ko-KR" dirty="0"/>
          </a:p>
          <a:p>
            <a:pPr lvl="2"/>
            <a:r>
              <a:rPr lang="en-US" altLang="ko-KR" dirty="0"/>
              <a:t>‘</a:t>
            </a:r>
            <a:r>
              <a:rPr lang="ko-KR" altLang="en-US" dirty="0"/>
              <a:t>빌드</a:t>
            </a:r>
            <a:r>
              <a:rPr lang="en-US" altLang="ko-KR" dirty="0"/>
              <a:t>’</a:t>
            </a:r>
            <a:r>
              <a:rPr lang="ko-KR" altLang="en-US" dirty="0"/>
              <a:t>부터 </a:t>
            </a:r>
            <a:r>
              <a:rPr lang="en-US" altLang="ko-KR" dirty="0"/>
              <a:t>‘</a:t>
            </a:r>
            <a:r>
              <a:rPr lang="ko-KR" altLang="en-US" dirty="0"/>
              <a:t>릴리스</a:t>
            </a:r>
            <a:r>
              <a:rPr lang="en-US" altLang="ko-KR" dirty="0"/>
              <a:t>＇</a:t>
            </a:r>
            <a:r>
              <a:rPr lang="ko-KR" altLang="en-US" dirty="0"/>
              <a:t>까지의 과정을 자동화함</a:t>
            </a:r>
            <a:endParaRPr lang="en-US" altLang="ko-KR" dirty="0"/>
          </a:p>
          <a:p>
            <a:pPr lvl="2"/>
            <a:r>
              <a:rPr lang="ko-KR" altLang="en-US" dirty="0"/>
              <a:t>자동화를 통해 각 스텝을 지속해서 실행함</a:t>
            </a:r>
            <a:endParaRPr lang="en-US" altLang="ko-KR" dirty="0"/>
          </a:p>
          <a:p>
            <a:pPr lvl="2"/>
            <a:r>
              <a:rPr lang="ko-KR" altLang="en-US" dirty="0"/>
              <a:t>시행착오 속도 및 횟수를 늘려 더 큰 가치를 창출함</a:t>
            </a:r>
            <a:endParaRPr lang="en-US" altLang="ko-KR" dirty="0"/>
          </a:p>
          <a:p>
            <a:pPr lvl="2"/>
            <a:r>
              <a:rPr lang="en-US" altLang="ko-KR" dirty="0"/>
              <a:t>CI(</a:t>
            </a:r>
            <a:r>
              <a:rPr lang="ko-KR" altLang="en-US" dirty="0"/>
              <a:t>지속적 통합</a:t>
            </a:r>
            <a:r>
              <a:rPr lang="en-US" altLang="ko-KR" dirty="0"/>
              <a:t>)</a:t>
            </a:r>
            <a:r>
              <a:rPr lang="ko-KR" altLang="en-US" dirty="0"/>
              <a:t>와 </a:t>
            </a:r>
            <a:r>
              <a:rPr lang="en-US" altLang="ko-KR" dirty="0"/>
              <a:t>CD(</a:t>
            </a:r>
            <a:r>
              <a:rPr lang="ko-KR" altLang="en-US" dirty="0"/>
              <a:t>지속적 전달</a:t>
            </a:r>
            <a:r>
              <a:rPr lang="en-US" altLang="ko-KR" dirty="0"/>
              <a:t>) </a:t>
            </a:r>
            <a:r>
              <a:rPr lang="ko-KR" altLang="en-US" dirty="0"/>
              <a:t>두 개념으로 구성됨</a:t>
            </a:r>
            <a:endParaRPr lang="en-US" altLang="ko-KR" dirty="0"/>
          </a:p>
          <a:p>
            <a:pPr lvl="1"/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97D197-43A1-4DD0-B77D-B1B64D2A3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4</a:t>
            </a:fld>
            <a:endParaRPr lang="ko-KR" altLang="en-US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D7955741-99B2-4BC4-A85D-7793641ECC6D}"/>
              </a:ext>
            </a:extLst>
          </p:cNvPr>
          <p:cNvGrpSpPr/>
          <p:nvPr/>
        </p:nvGrpSpPr>
        <p:grpSpPr>
          <a:xfrm>
            <a:off x="888955" y="4958861"/>
            <a:ext cx="10414087" cy="914400"/>
            <a:chOff x="885811" y="5221362"/>
            <a:chExt cx="10414087" cy="91440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EA8C8BB-5E60-4075-AD4B-769F53E4D456}"/>
                </a:ext>
              </a:extLst>
            </p:cNvPr>
            <p:cNvSpPr/>
            <p:nvPr/>
          </p:nvSpPr>
          <p:spPr>
            <a:xfrm>
              <a:off x="2673428" y="5221362"/>
              <a:ext cx="1476000" cy="914400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latin typeface="Verdana" panose="020B0604030504040204" pitchFamily="34" charset="0"/>
                  <a:ea typeface="HY헤드라인M" panose="02030600000101010101" pitchFamily="18" charset="-127"/>
                </a:rPr>
                <a:t>개발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5C9E7EF-BF0A-4BE4-A1D3-5CEDB8242A7B}"/>
                </a:ext>
              </a:extLst>
            </p:cNvPr>
            <p:cNvSpPr/>
            <p:nvPr/>
          </p:nvSpPr>
          <p:spPr>
            <a:xfrm>
              <a:off x="4461045" y="5221362"/>
              <a:ext cx="1476000" cy="914400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latin typeface="Verdana" panose="020B0604030504040204" pitchFamily="34" charset="0"/>
                  <a:ea typeface="HY헤드라인M" panose="02030600000101010101" pitchFamily="18" charset="-127"/>
                </a:rPr>
                <a:t>빌드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1958B84-D49E-4D07-828B-DB126083FC07}"/>
                </a:ext>
              </a:extLst>
            </p:cNvPr>
            <p:cNvSpPr/>
            <p:nvPr/>
          </p:nvSpPr>
          <p:spPr>
            <a:xfrm>
              <a:off x="6248662" y="5221362"/>
              <a:ext cx="1476000" cy="914400"/>
            </a:xfrm>
            <a:prstGeom prst="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latin typeface="Verdana" panose="020B0604030504040204" pitchFamily="34" charset="0"/>
                  <a:ea typeface="HY헤드라인M" panose="02030600000101010101" pitchFamily="18" charset="-127"/>
                </a:rPr>
                <a:t>테스트</a:t>
              </a:r>
              <a:endParaRPr lang="en-US" altLang="ko-KR" dirty="0">
                <a:latin typeface="Verdana" panose="020B0604030504040204" pitchFamily="34" charset="0"/>
                <a:ea typeface="HY헤드라인M" panose="02030600000101010101" pitchFamily="18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F32DA88-B745-48C0-A475-65B636E2808D}"/>
                </a:ext>
              </a:extLst>
            </p:cNvPr>
            <p:cNvSpPr/>
            <p:nvPr/>
          </p:nvSpPr>
          <p:spPr>
            <a:xfrm>
              <a:off x="8036279" y="5221362"/>
              <a:ext cx="1476000" cy="914400"/>
            </a:xfrm>
            <a:prstGeom prst="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latin typeface="Verdana" panose="020B0604030504040204" pitchFamily="34" charset="0"/>
                  <a:ea typeface="HY헤드라인M" panose="02030600000101010101" pitchFamily="18" charset="-127"/>
                </a:rPr>
                <a:t>릴리스</a:t>
              </a:r>
              <a:endParaRPr lang="en-US" altLang="ko-KR" dirty="0">
                <a:latin typeface="Verdana" panose="020B0604030504040204" pitchFamily="34" charset="0"/>
                <a:ea typeface="HY헤드라인M" panose="02030600000101010101" pitchFamily="18" charset="-127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8E84835-2BA2-40BB-BE09-5D47DAE9FBB6}"/>
                </a:ext>
              </a:extLst>
            </p:cNvPr>
            <p:cNvSpPr/>
            <p:nvPr/>
          </p:nvSpPr>
          <p:spPr>
            <a:xfrm>
              <a:off x="885811" y="5221362"/>
              <a:ext cx="1476000" cy="914400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latin typeface="Verdana" panose="020B0604030504040204" pitchFamily="34" charset="0"/>
                  <a:ea typeface="HY헤드라인M" panose="02030600000101010101" pitchFamily="18" charset="-127"/>
                </a:rPr>
                <a:t>계획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6205B63-2705-4910-99A9-709AFBF7E63E}"/>
                </a:ext>
              </a:extLst>
            </p:cNvPr>
            <p:cNvSpPr/>
            <p:nvPr/>
          </p:nvSpPr>
          <p:spPr>
            <a:xfrm>
              <a:off x="9823898" y="5221362"/>
              <a:ext cx="1476000" cy="914400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latin typeface="Verdana" panose="020B0604030504040204" pitchFamily="34" charset="0"/>
                  <a:ea typeface="HY헤드라인M" panose="02030600000101010101" pitchFamily="18" charset="-127"/>
                </a:rPr>
                <a:t>운영</a:t>
              </a:r>
            </a:p>
          </p:txBody>
        </p: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690A43CE-89F0-4BD6-901D-FEADDE473530}"/>
                </a:ext>
              </a:extLst>
            </p:cNvPr>
            <p:cNvCxnSpPr>
              <a:cxnSpLocks/>
            </p:cNvCxnSpPr>
            <p:nvPr/>
          </p:nvCxnSpPr>
          <p:spPr>
            <a:xfrm>
              <a:off x="2361811" y="5684912"/>
              <a:ext cx="31161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C69024C7-8337-45D8-84A6-711995D9E8E6}"/>
                </a:ext>
              </a:extLst>
            </p:cNvPr>
            <p:cNvCxnSpPr>
              <a:cxnSpLocks/>
            </p:cNvCxnSpPr>
            <p:nvPr/>
          </p:nvCxnSpPr>
          <p:spPr>
            <a:xfrm>
              <a:off x="4149428" y="5688094"/>
              <a:ext cx="31161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C06C5D4B-626F-429C-8BEF-A50C6D279A4F}"/>
                </a:ext>
              </a:extLst>
            </p:cNvPr>
            <p:cNvCxnSpPr>
              <a:cxnSpLocks/>
            </p:cNvCxnSpPr>
            <p:nvPr/>
          </p:nvCxnSpPr>
          <p:spPr>
            <a:xfrm>
              <a:off x="5940190" y="5700973"/>
              <a:ext cx="31161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74917F25-DCF9-467C-A741-9B35FDF7C04C}"/>
                </a:ext>
              </a:extLst>
            </p:cNvPr>
            <p:cNvCxnSpPr>
              <a:cxnSpLocks/>
            </p:cNvCxnSpPr>
            <p:nvPr/>
          </p:nvCxnSpPr>
          <p:spPr>
            <a:xfrm>
              <a:off x="7724662" y="5700973"/>
              <a:ext cx="31161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A1FDD0EC-F628-4ABB-8857-85FC113F2E5B}"/>
                </a:ext>
              </a:extLst>
            </p:cNvPr>
            <p:cNvCxnSpPr>
              <a:cxnSpLocks/>
            </p:cNvCxnSpPr>
            <p:nvPr/>
          </p:nvCxnSpPr>
          <p:spPr>
            <a:xfrm>
              <a:off x="9512281" y="5700973"/>
              <a:ext cx="31161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24203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96723D-A4BF-4E06-835D-DEDE5C8BA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CI/CD</a:t>
            </a:r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A050A5-F628-4844-BF3E-430197A4C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지속적 통합</a:t>
            </a:r>
            <a:r>
              <a:rPr lang="en-US" altLang="ko-KR" dirty="0"/>
              <a:t>(Continuous Integration, CI)</a:t>
            </a:r>
          </a:p>
          <a:p>
            <a:pPr lvl="1"/>
            <a:r>
              <a:rPr lang="en-US" altLang="ko-KR" dirty="0"/>
              <a:t>CI</a:t>
            </a:r>
            <a:r>
              <a:rPr lang="ko-KR" altLang="en-US" dirty="0"/>
              <a:t>의 개념 및 핵심</a:t>
            </a:r>
            <a:endParaRPr lang="en-US" altLang="ko-KR" dirty="0"/>
          </a:p>
          <a:p>
            <a:pPr lvl="2"/>
            <a:r>
              <a:rPr lang="ko-KR" altLang="en-US" dirty="0"/>
              <a:t>변경 코드를 코드베이스에 반영하고 검증하는 것을 의미함</a:t>
            </a:r>
            <a:endParaRPr lang="en-US" altLang="ko-KR" dirty="0"/>
          </a:p>
          <a:p>
            <a:pPr lvl="2"/>
            <a:r>
              <a:rPr lang="ko-KR" altLang="en-US" dirty="0"/>
              <a:t>단순 코드베이스 통합을 넘어</a:t>
            </a:r>
            <a:r>
              <a:rPr lang="en-US" altLang="ko-KR" dirty="0"/>
              <a:t> ‘</a:t>
            </a:r>
            <a:r>
              <a:rPr lang="ko-KR" altLang="en-US" dirty="0"/>
              <a:t>검증</a:t>
            </a:r>
            <a:r>
              <a:rPr lang="en-US" altLang="ko-KR" dirty="0"/>
              <a:t>’</a:t>
            </a:r>
            <a:r>
              <a:rPr lang="ko-KR" altLang="en-US" dirty="0"/>
              <a:t>을 핵심 활동으로 규정</a:t>
            </a:r>
            <a:endParaRPr lang="en-US" altLang="ko-KR" dirty="0"/>
          </a:p>
          <a:p>
            <a:pPr lvl="1"/>
            <a:r>
              <a:rPr lang="en-US" altLang="ko-KR" dirty="0"/>
              <a:t>CI</a:t>
            </a:r>
            <a:r>
              <a:rPr lang="ko-KR" altLang="en-US" dirty="0"/>
              <a:t>의 주요 과정</a:t>
            </a:r>
            <a:endParaRPr lang="en-US" altLang="ko-KR" dirty="0"/>
          </a:p>
          <a:p>
            <a:pPr lvl="2"/>
            <a:r>
              <a:rPr lang="ko-KR" altLang="en-US" dirty="0"/>
              <a:t>코드 변경사항을 자주 코드베이스와 통합함</a:t>
            </a:r>
            <a:endParaRPr lang="en-US" altLang="ko-KR" dirty="0"/>
          </a:p>
          <a:p>
            <a:pPr lvl="2"/>
            <a:r>
              <a:rPr lang="ko-KR" altLang="en-US" dirty="0"/>
              <a:t>제대로 실행되는지 반복해서 검증함</a:t>
            </a:r>
            <a:endParaRPr lang="en-US" altLang="ko-KR" dirty="0"/>
          </a:p>
          <a:p>
            <a:pPr lvl="1"/>
            <a:r>
              <a:rPr lang="en-US" altLang="ko-KR" dirty="0"/>
              <a:t>CI</a:t>
            </a:r>
            <a:r>
              <a:rPr lang="ko-KR" altLang="en-US" dirty="0"/>
              <a:t>도입의 효과</a:t>
            </a:r>
            <a:endParaRPr lang="en-US" altLang="ko-KR" dirty="0"/>
          </a:p>
          <a:p>
            <a:pPr lvl="2"/>
            <a:r>
              <a:rPr lang="ko-KR" altLang="en-US" dirty="0"/>
              <a:t>코드를 통합 빈도를 늘려 충돌발생을 감소시킴</a:t>
            </a:r>
            <a:endParaRPr lang="en-US" altLang="ko-KR" dirty="0"/>
          </a:p>
          <a:p>
            <a:pPr lvl="2"/>
            <a:r>
              <a:rPr lang="ko-KR" altLang="en-US" dirty="0"/>
              <a:t>반복적 검증을 통해 버그를 재빠르게 발견 및 수정함</a:t>
            </a:r>
            <a:endParaRPr lang="en-US" altLang="ko-KR" dirty="0"/>
          </a:p>
          <a:p>
            <a:pPr lvl="2"/>
            <a:r>
              <a:rPr lang="ko-KR" altLang="en-US" dirty="0"/>
              <a:t>소프트웨어의 안정적 실행으로 사용자 만족도를 제공함</a:t>
            </a:r>
            <a:endParaRPr lang="en-US" altLang="ko-KR" dirty="0"/>
          </a:p>
          <a:p>
            <a:pPr lvl="2"/>
            <a:r>
              <a:rPr lang="ko-KR" altLang="en-US" dirty="0"/>
              <a:t>지속적인 검증을 통해 개발팀의 자신감을 부여함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9E604E-569C-484E-ACE6-8A396A97D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6148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DBA18B-DEAD-4757-95D9-B517DE2B1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CI/CD - 3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C3B6B8-257E-4870-BB16-C9E2B9130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지속적 전달</a:t>
            </a:r>
            <a:r>
              <a:rPr lang="en-US" altLang="ko-KR" dirty="0"/>
              <a:t>(Continuous Delivery, CD)</a:t>
            </a:r>
          </a:p>
          <a:p>
            <a:pPr lvl="1"/>
            <a:r>
              <a:rPr lang="ko-KR" altLang="en-US" dirty="0"/>
              <a:t>릴리스</a:t>
            </a:r>
            <a:r>
              <a:rPr lang="en-US" altLang="ko-KR" dirty="0"/>
              <a:t>(Release)</a:t>
            </a:r>
            <a:r>
              <a:rPr lang="ko-KR" altLang="en-US" dirty="0"/>
              <a:t>의 필요성</a:t>
            </a:r>
            <a:endParaRPr lang="en-US" altLang="ko-KR" dirty="0"/>
          </a:p>
          <a:p>
            <a:pPr lvl="2"/>
            <a:r>
              <a:rPr lang="ko-KR" altLang="en-US" dirty="0"/>
              <a:t>생성된 소프트웨어를 사용자에게 전달하는 릴리스 과정이 필수적임</a:t>
            </a:r>
            <a:endParaRPr lang="en-US" altLang="ko-KR" dirty="0"/>
          </a:p>
          <a:p>
            <a:pPr lvl="2"/>
            <a:r>
              <a:rPr lang="ko-KR" altLang="en-US" dirty="0"/>
              <a:t>사람의 실수가 발생하기 쉽고 과정이 복잡함을 설명</a:t>
            </a:r>
            <a:endParaRPr lang="en-US" altLang="ko-KR" dirty="0"/>
          </a:p>
          <a:p>
            <a:pPr lvl="2"/>
            <a:r>
              <a:rPr lang="ko-KR" altLang="en-US" dirty="0"/>
              <a:t>단일 이벤트가 아닌 수차례 반복 수행해야하는 특성을 지님</a:t>
            </a:r>
            <a:endParaRPr lang="en-US" altLang="ko-KR" dirty="0"/>
          </a:p>
          <a:p>
            <a:pPr lvl="1"/>
            <a:r>
              <a:rPr lang="en-US" altLang="ko-KR" dirty="0"/>
              <a:t>CD</a:t>
            </a:r>
            <a:r>
              <a:rPr lang="ko-KR" altLang="en-US" dirty="0"/>
              <a:t>의 주요 과정</a:t>
            </a:r>
            <a:endParaRPr lang="en-US" altLang="ko-KR" dirty="0"/>
          </a:p>
          <a:p>
            <a:pPr lvl="2"/>
            <a:r>
              <a:rPr lang="ko-KR" altLang="en-US" dirty="0"/>
              <a:t>언제나 안전하게 </a:t>
            </a:r>
            <a:r>
              <a:rPr lang="ko-KR" altLang="en-US" dirty="0" err="1"/>
              <a:t>릴리스할</a:t>
            </a:r>
            <a:r>
              <a:rPr lang="ko-KR" altLang="en-US" dirty="0"/>
              <a:t> 수 있는 상태를 유지함</a:t>
            </a:r>
            <a:endParaRPr lang="en-US" altLang="ko-KR" dirty="0"/>
          </a:p>
          <a:p>
            <a:pPr lvl="2"/>
            <a:r>
              <a:rPr lang="ko-KR" altLang="en-US" dirty="0"/>
              <a:t>소프트웨어를 반복해서 개선함</a:t>
            </a:r>
            <a:endParaRPr lang="en-US" altLang="ko-KR" dirty="0"/>
          </a:p>
          <a:p>
            <a:pPr lvl="1"/>
            <a:r>
              <a:rPr lang="en-US" altLang="ko-KR" dirty="0"/>
              <a:t>CD</a:t>
            </a:r>
            <a:r>
              <a:rPr lang="ko-KR" altLang="en-US" dirty="0"/>
              <a:t>의 핵심 가치</a:t>
            </a:r>
            <a:endParaRPr lang="en-US" altLang="ko-KR" dirty="0"/>
          </a:p>
          <a:p>
            <a:pPr lvl="2"/>
            <a:r>
              <a:rPr lang="en-US" altLang="ko-KR" dirty="0"/>
              <a:t>CD</a:t>
            </a:r>
            <a:r>
              <a:rPr lang="ko-KR" altLang="en-US" dirty="0"/>
              <a:t>의 핵심을 </a:t>
            </a:r>
            <a:r>
              <a:rPr lang="en-US" altLang="ko-KR" dirty="0"/>
              <a:t>‘</a:t>
            </a:r>
            <a:r>
              <a:rPr lang="ko-KR" altLang="en-US" dirty="0"/>
              <a:t>자동화</a:t>
            </a:r>
            <a:r>
              <a:rPr lang="en-US" altLang="ko-KR" dirty="0"/>
              <a:t>＇</a:t>
            </a:r>
            <a:r>
              <a:rPr lang="ko-KR" altLang="en-US" dirty="0"/>
              <a:t>로 정의함</a:t>
            </a:r>
            <a:endParaRPr lang="en-US" altLang="ko-KR" dirty="0"/>
          </a:p>
          <a:p>
            <a:pPr lvl="2"/>
            <a:r>
              <a:rPr lang="ko-KR" altLang="en-US" dirty="0"/>
              <a:t>자동화를 통해 반복 작업에 강해지고 인적 관여 여지를 줄여 언제든 안전하게 전달할 수 있게 됨</a:t>
            </a:r>
            <a:endParaRPr lang="en-US" altLang="ko-KR" dirty="0"/>
          </a:p>
          <a:p>
            <a:pPr lvl="1"/>
            <a:r>
              <a:rPr lang="en-US" altLang="ko-KR" dirty="0"/>
              <a:t>CI</a:t>
            </a:r>
            <a:r>
              <a:rPr lang="ko-KR" altLang="en-US" dirty="0"/>
              <a:t>와 </a:t>
            </a:r>
            <a:r>
              <a:rPr lang="en-US" altLang="ko-KR" dirty="0"/>
              <a:t>CD</a:t>
            </a:r>
            <a:r>
              <a:rPr lang="ko-KR" altLang="en-US" dirty="0"/>
              <a:t>의 관계 및 역할 </a:t>
            </a:r>
            <a:endParaRPr lang="en-US" altLang="ko-KR" dirty="0"/>
          </a:p>
          <a:p>
            <a:pPr lvl="2"/>
            <a:r>
              <a:rPr lang="ko-KR" altLang="en-US" dirty="0"/>
              <a:t>새로운 기능 </a:t>
            </a:r>
            <a:r>
              <a:rPr lang="ko-KR" altLang="en-US" dirty="0" err="1"/>
              <a:t>추가뿐만</a:t>
            </a:r>
            <a:r>
              <a:rPr lang="ko-KR" altLang="en-US" dirty="0"/>
              <a:t> 아니라 품질 개선의 중요성을 강조</a:t>
            </a:r>
            <a:endParaRPr lang="en-US" altLang="ko-KR" dirty="0"/>
          </a:p>
          <a:p>
            <a:pPr lvl="2"/>
            <a:r>
              <a:rPr lang="ko-KR" altLang="en-US" dirty="0"/>
              <a:t>품질을 확보하는 </a:t>
            </a:r>
            <a:r>
              <a:rPr lang="en-US" altLang="ko-KR" dirty="0"/>
              <a:t>CI</a:t>
            </a:r>
            <a:r>
              <a:rPr lang="ko-KR" altLang="en-US" dirty="0"/>
              <a:t>가 </a:t>
            </a:r>
            <a:r>
              <a:rPr lang="en-US" altLang="ko-KR" dirty="0"/>
              <a:t>CD</a:t>
            </a:r>
            <a:r>
              <a:rPr lang="ko-KR" altLang="en-US" dirty="0"/>
              <a:t>에 포함되는 구조임을 설명</a:t>
            </a:r>
            <a:endParaRPr lang="en-US" altLang="ko-KR" dirty="0"/>
          </a:p>
          <a:p>
            <a:pPr lvl="2"/>
            <a:r>
              <a:rPr lang="ko-KR" altLang="en-US" dirty="0"/>
              <a:t>높은 품질의 소프트웨어를 신속하게 제공하는 것을 </a:t>
            </a:r>
            <a:r>
              <a:rPr lang="en-US" altLang="ko-KR" dirty="0"/>
              <a:t>CD</a:t>
            </a:r>
            <a:r>
              <a:rPr lang="ko-KR" altLang="en-US" dirty="0"/>
              <a:t>의 주요 역할로 규정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F4E251-AE9B-47F3-9C6F-C575384DE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9672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92A5B5-4F7D-4574-91A2-7E7A42DB5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CI/CD - 3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1FBBCD-6A16-4D24-B83D-F075938E5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ko-KR" altLang="en-US" dirty="0"/>
              <a:t>소프트웨어 개발의 지속 가능성</a:t>
            </a:r>
            <a:endParaRPr lang="en-US" altLang="ko-KR" dirty="0"/>
          </a:p>
          <a:p>
            <a:pPr lvl="1"/>
            <a:r>
              <a:rPr lang="ko-KR" altLang="en-US" dirty="0"/>
              <a:t>지속 가능성</a:t>
            </a:r>
            <a:r>
              <a:rPr lang="en-US" altLang="ko-KR" dirty="0"/>
              <a:t>(Sustainability)</a:t>
            </a:r>
            <a:r>
              <a:rPr lang="ko-KR" altLang="en-US" dirty="0"/>
              <a:t>과의 연계</a:t>
            </a:r>
            <a:endParaRPr lang="en-US" altLang="ko-KR" dirty="0"/>
          </a:p>
          <a:p>
            <a:pPr lvl="2"/>
            <a:r>
              <a:rPr lang="ko-KR" altLang="en-US" dirty="0"/>
              <a:t>시행착오와 개선을 유도하여 개발의 지속 가능성을 확보함</a:t>
            </a:r>
            <a:endParaRPr lang="en-US" altLang="ko-KR" dirty="0"/>
          </a:p>
          <a:p>
            <a:pPr lvl="2"/>
            <a:r>
              <a:rPr lang="ko-KR" altLang="en-US" dirty="0"/>
              <a:t>시간 축 개념을 추가하여 정기적으로 사용자 가치를 제공함</a:t>
            </a:r>
            <a:endParaRPr lang="en-US" altLang="ko-KR" dirty="0"/>
          </a:p>
          <a:p>
            <a:pPr lvl="1"/>
            <a:r>
              <a:rPr lang="en-US" altLang="ko-KR" dirty="0"/>
              <a:t>CI/CD</a:t>
            </a:r>
            <a:r>
              <a:rPr lang="ko-KR" altLang="en-US" dirty="0"/>
              <a:t>의 핵심 목적</a:t>
            </a:r>
            <a:endParaRPr lang="en-US" altLang="ko-KR" dirty="0"/>
          </a:p>
          <a:p>
            <a:pPr lvl="2"/>
            <a:r>
              <a:rPr lang="ko-KR" altLang="en-US" dirty="0"/>
              <a:t>소프트웨어 개발의 지속 가능성을 높이고 장기적 가치를 제공함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CI/CD </a:t>
            </a:r>
            <a:r>
              <a:rPr lang="ko-KR" altLang="en-US" dirty="0"/>
              <a:t>도입에 따른 이점 </a:t>
            </a:r>
            <a:r>
              <a:rPr lang="en-US" altLang="ko-KR" dirty="0"/>
              <a:t>- 1</a:t>
            </a:r>
          </a:p>
          <a:p>
            <a:pPr lvl="1"/>
            <a:r>
              <a:rPr lang="ko-KR" altLang="en-US" dirty="0"/>
              <a:t>사용자 만족도 향상</a:t>
            </a:r>
            <a:endParaRPr lang="en-US" altLang="ko-KR" dirty="0"/>
          </a:p>
          <a:p>
            <a:pPr lvl="2"/>
            <a:r>
              <a:rPr lang="ko-KR" altLang="en-US" dirty="0"/>
              <a:t>지속적 테스트 실행으로 버그를 초기 스텝에서 발견한고 위험을 최소화함</a:t>
            </a:r>
            <a:endParaRPr lang="en-US" altLang="ko-KR" dirty="0"/>
          </a:p>
          <a:p>
            <a:pPr lvl="2"/>
            <a:r>
              <a:rPr lang="ko-KR" altLang="en-US" dirty="0"/>
              <a:t>정상 실행 소프트웨어의 지속적 전달을 통해 사용자 신뢰 확보 및 이탈을 방지함</a:t>
            </a:r>
            <a:endParaRPr lang="en-US" altLang="ko-KR" dirty="0"/>
          </a:p>
          <a:p>
            <a:pPr lvl="2"/>
            <a:r>
              <a:rPr lang="ko-KR" altLang="en-US" dirty="0"/>
              <a:t>릴리스 자동화로 신속한 니즈 검증 및 피드백 기반 지속 개선을 달성함</a:t>
            </a:r>
            <a:endParaRPr lang="en-US" altLang="ko-KR" dirty="0"/>
          </a:p>
          <a:p>
            <a:pPr lvl="1"/>
            <a:r>
              <a:rPr lang="ko-KR" altLang="en-US" dirty="0"/>
              <a:t>비즈니스 경쟁력 향상</a:t>
            </a:r>
            <a:endParaRPr lang="en-US" altLang="ko-KR" dirty="0"/>
          </a:p>
          <a:p>
            <a:pPr lvl="2"/>
            <a:r>
              <a:rPr lang="ko-KR" altLang="en-US" dirty="0"/>
              <a:t>시장 변화 및 사용자 필요에 대한 유연히 대처를 가능하게 함</a:t>
            </a:r>
            <a:endParaRPr lang="en-US" altLang="ko-KR" dirty="0"/>
          </a:p>
          <a:p>
            <a:pPr lvl="2"/>
            <a:r>
              <a:rPr lang="ko-KR" altLang="en-US" dirty="0"/>
              <a:t>피드백 주기 반복을 통한 비즈니스 기회 창출 및 성공 확률을 향상시킴</a:t>
            </a:r>
            <a:endParaRPr lang="en-US" altLang="ko-KR" dirty="0"/>
          </a:p>
          <a:p>
            <a:pPr lvl="2"/>
            <a:r>
              <a:rPr lang="ko-KR" altLang="en-US" dirty="0"/>
              <a:t>빠른 가설 검증과 학습 능력으로 시장 내 경쟁력 우위를 확보함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AB89B5-5E3B-4AB7-BD00-E01F3AD30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9632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C3AC8D-AEE6-448A-89D2-F89638FAE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CI/CD - 3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1A52D3-BEAD-4B4B-9749-FF0A58F3F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CI/CD </a:t>
            </a:r>
            <a:r>
              <a:rPr lang="ko-KR" altLang="en-US" dirty="0"/>
              <a:t>도입에 따른 이점 </a:t>
            </a:r>
            <a:r>
              <a:rPr lang="en-US" altLang="ko-KR" dirty="0"/>
              <a:t>– 2</a:t>
            </a:r>
          </a:p>
          <a:p>
            <a:pPr lvl="1"/>
            <a:r>
              <a:rPr lang="ko-KR" altLang="en-US" dirty="0"/>
              <a:t>소프트웨어 엔지니어의 창의성 향상</a:t>
            </a:r>
            <a:endParaRPr lang="en-US" altLang="ko-KR" dirty="0"/>
          </a:p>
          <a:p>
            <a:pPr lvl="2"/>
            <a:r>
              <a:rPr lang="ko-KR" altLang="en-US" dirty="0"/>
              <a:t>조기 문제 발견을 통해 해결 절차를 단순화하고 실패 두려움을 완화함</a:t>
            </a:r>
            <a:endParaRPr lang="en-US" altLang="ko-KR" dirty="0"/>
          </a:p>
          <a:p>
            <a:pPr lvl="2"/>
            <a:r>
              <a:rPr lang="ko-KR" altLang="en-US" dirty="0"/>
              <a:t>자동화를 통한 수작업 오류 및 복구 시간 단축으로 가치 창출에 집중함</a:t>
            </a:r>
            <a:endParaRPr lang="en-US" altLang="ko-KR" dirty="0"/>
          </a:p>
          <a:p>
            <a:pPr lvl="2"/>
            <a:r>
              <a:rPr lang="ko-KR" altLang="en-US" dirty="0"/>
              <a:t>업무 효율화로 확보된 시간 여유를 학습</a:t>
            </a:r>
            <a:r>
              <a:rPr lang="en-US" altLang="ko-KR" dirty="0"/>
              <a:t>·</a:t>
            </a:r>
            <a:r>
              <a:rPr lang="ko-KR" altLang="en-US" dirty="0"/>
              <a:t>실험에 투자하여 기술력과 개발 민첩성을 제공함</a:t>
            </a:r>
            <a:endParaRPr lang="en-US" altLang="ko-KR" dirty="0"/>
          </a:p>
          <a:p>
            <a:pPr lvl="2"/>
            <a:endParaRPr lang="en-US" altLang="ko-KR" dirty="0"/>
          </a:p>
          <a:p>
            <a:r>
              <a:rPr lang="ko-KR" altLang="en-US" dirty="0"/>
              <a:t>버전 관리 시스템</a:t>
            </a:r>
            <a:r>
              <a:rPr lang="en-US" altLang="ko-KR" dirty="0"/>
              <a:t>(VCS) </a:t>
            </a:r>
          </a:p>
          <a:p>
            <a:pPr lvl="1"/>
            <a:r>
              <a:rPr lang="ko-KR" altLang="en-US" dirty="0"/>
              <a:t>버전 관리 시스템의 개념 및 필요성</a:t>
            </a:r>
            <a:endParaRPr lang="en-US" altLang="ko-KR" dirty="0"/>
          </a:p>
          <a:p>
            <a:pPr lvl="2"/>
            <a:r>
              <a:rPr lang="en-US" altLang="ko-KR" dirty="0"/>
              <a:t>CI/CD </a:t>
            </a:r>
            <a:r>
              <a:rPr lang="ko-KR" altLang="en-US" dirty="0"/>
              <a:t>적용의 필수 전체 조건으로 버전 관리 시스템</a:t>
            </a:r>
            <a:r>
              <a:rPr lang="en-US" altLang="ko-KR" dirty="0"/>
              <a:t>(VCS) </a:t>
            </a:r>
            <a:r>
              <a:rPr lang="ko-KR" altLang="en-US" dirty="0"/>
              <a:t>도입을 제시</a:t>
            </a:r>
            <a:endParaRPr lang="en-US" altLang="ko-KR" dirty="0"/>
          </a:p>
          <a:p>
            <a:pPr lvl="2"/>
            <a:r>
              <a:rPr lang="ko-KR" altLang="en-US" dirty="0"/>
              <a:t>코드 보관 및 변경 이력</a:t>
            </a:r>
            <a:r>
              <a:rPr lang="en-US" altLang="ko-KR" dirty="0"/>
              <a:t>(</a:t>
            </a:r>
            <a:r>
              <a:rPr lang="ko-KR" altLang="en-US" dirty="0"/>
              <a:t>체인지로그</a:t>
            </a:r>
            <a:r>
              <a:rPr lang="en-US" altLang="ko-KR" dirty="0"/>
              <a:t>) </a:t>
            </a:r>
            <a:r>
              <a:rPr lang="ko-KR" altLang="en-US" dirty="0"/>
              <a:t>관리 기능을 수행함</a:t>
            </a:r>
            <a:endParaRPr lang="en-US" altLang="ko-KR" dirty="0"/>
          </a:p>
          <a:p>
            <a:pPr lvl="2"/>
            <a:r>
              <a:rPr lang="ko-KR" altLang="en-US" dirty="0"/>
              <a:t>이의 시점으로의 복구를 지원하여 안정적인 개발 환경을 제공함</a:t>
            </a:r>
            <a:endParaRPr lang="en-US" altLang="ko-KR" dirty="0"/>
          </a:p>
          <a:p>
            <a:pPr lvl="2"/>
            <a:r>
              <a:rPr lang="ko-KR" altLang="en-US" dirty="0"/>
              <a:t>대표적 버전 관리 시스템으로 깃</a:t>
            </a:r>
            <a:r>
              <a:rPr lang="en-US" altLang="ko-KR" dirty="0"/>
              <a:t>(Git)</a:t>
            </a:r>
            <a:r>
              <a:rPr lang="ko-KR" altLang="en-US" dirty="0"/>
              <a:t>을 제시</a:t>
            </a:r>
            <a:endParaRPr lang="en-US" altLang="ko-KR" dirty="0"/>
          </a:p>
          <a:p>
            <a:pPr lvl="1"/>
            <a:r>
              <a:rPr lang="ko-KR" altLang="en-US" dirty="0"/>
              <a:t>팀 개발 환경과 </a:t>
            </a:r>
            <a:r>
              <a:rPr lang="ko-KR" altLang="en-US" dirty="0" err="1"/>
              <a:t>깃허브</a:t>
            </a:r>
            <a:endParaRPr lang="en-US" altLang="ko-KR" dirty="0"/>
          </a:p>
          <a:p>
            <a:pPr lvl="2"/>
            <a:r>
              <a:rPr lang="ko-KR" altLang="en-US" dirty="0"/>
              <a:t>팀 단위 개발 시 원격 접속을 통한 공동 버전 관리 필요성을 강조</a:t>
            </a:r>
            <a:endParaRPr lang="en-US" altLang="ko-KR" dirty="0"/>
          </a:p>
          <a:p>
            <a:pPr lvl="2"/>
            <a:r>
              <a:rPr lang="ko-KR" altLang="en-US" dirty="0"/>
              <a:t>원격 저장소 및 공동 관리 플랫폼으로 </a:t>
            </a:r>
            <a:r>
              <a:rPr lang="ko-KR" altLang="en-US" dirty="0" err="1"/>
              <a:t>깃허브</a:t>
            </a:r>
            <a:r>
              <a:rPr lang="en-US" altLang="ko-KR" dirty="0"/>
              <a:t>(GitHub)</a:t>
            </a:r>
            <a:r>
              <a:rPr lang="ko-KR" altLang="en-US" dirty="0"/>
              <a:t>가 등장함을 설명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84CA67-3132-47C0-9726-149921ED8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2201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18074B-DB8A-4E98-81FA-1D0EF312C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깃허브</a:t>
            </a:r>
            <a:r>
              <a:rPr lang="en-US" altLang="ko-KR" dirty="0"/>
              <a:t>(GitHub) </a:t>
            </a:r>
            <a:r>
              <a:rPr lang="ko-KR" altLang="en-US" dirty="0"/>
              <a:t>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A47D7D-7302-4FC4-9990-D8021690B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깃허브</a:t>
            </a:r>
            <a:r>
              <a:rPr lang="ko-KR" altLang="en-US" dirty="0"/>
              <a:t> 정의 및 핵심 기능</a:t>
            </a:r>
            <a:endParaRPr lang="en-US" altLang="ko-KR" dirty="0"/>
          </a:p>
          <a:p>
            <a:pPr lvl="1"/>
            <a:r>
              <a:rPr lang="ko-KR" altLang="en-US" dirty="0"/>
              <a:t>소프트웨어 개발 전체를 지원하는 호스팅 플랫폼 서비스로 정의</a:t>
            </a:r>
            <a:endParaRPr lang="en-US" altLang="ko-KR" dirty="0"/>
          </a:p>
          <a:p>
            <a:pPr lvl="1"/>
            <a:r>
              <a:rPr lang="ko-KR" altLang="en-US" dirty="0"/>
              <a:t>원격 서버 내 코드 보관 및 공유</a:t>
            </a:r>
            <a:r>
              <a:rPr lang="en-US" altLang="ko-KR" dirty="0"/>
              <a:t>, </a:t>
            </a:r>
            <a:r>
              <a:rPr lang="ko-KR" altLang="en-US" dirty="0"/>
              <a:t>깃 기반의 버전 관리를 지원함</a:t>
            </a:r>
            <a:endParaRPr lang="en-US" altLang="ko-KR" dirty="0"/>
          </a:p>
          <a:p>
            <a:pPr lvl="1"/>
            <a:r>
              <a:rPr lang="ko-KR" altLang="en-US" dirty="0"/>
              <a:t>풀 </a:t>
            </a:r>
            <a:r>
              <a:rPr lang="ko-KR" altLang="en-US" dirty="0" err="1"/>
              <a:t>리퀘스트</a:t>
            </a:r>
            <a:r>
              <a:rPr lang="en-US" altLang="ko-KR" dirty="0"/>
              <a:t>(Pull Request)</a:t>
            </a:r>
            <a:r>
              <a:rPr lang="ko-KR" altLang="en-US" dirty="0"/>
              <a:t>를 통한 코드 변경 제안 및 리뷰 기능을 제공함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 err="1"/>
              <a:t>깃허브의</a:t>
            </a:r>
            <a:r>
              <a:rPr lang="ko-KR" altLang="en-US" dirty="0"/>
              <a:t> 주요 부가 서비스</a:t>
            </a:r>
            <a:endParaRPr lang="en-US" altLang="ko-KR" dirty="0"/>
          </a:p>
          <a:p>
            <a:pPr lvl="1"/>
            <a:r>
              <a:rPr lang="ko-KR" altLang="en-US" dirty="0" err="1"/>
              <a:t>깃허브</a:t>
            </a:r>
            <a:r>
              <a:rPr lang="ko-KR" altLang="en-US" dirty="0"/>
              <a:t> 액션</a:t>
            </a:r>
            <a:r>
              <a:rPr lang="en-US" altLang="ko-KR" dirty="0"/>
              <a:t>(GitHub Actions) : </a:t>
            </a:r>
            <a:r>
              <a:rPr lang="ko-KR" altLang="en-US" dirty="0"/>
              <a:t>범용 워크플로 엔진을 제공함</a:t>
            </a:r>
            <a:endParaRPr lang="en-US" altLang="ko-KR" dirty="0"/>
          </a:p>
          <a:p>
            <a:pPr lvl="1"/>
            <a:r>
              <a:rPr lang="ko-KR" altLang="en-US" dirty="0" err="1"/>
              <a:t>깃허브</a:t>
            </a:r>
            <a:r>
              <a:rPr lang="ko-KR" altLang="en-US" dirty="0"/>
              <a:t> 코드스페이스</a:t>
            </a:r>
            <a:r>
              <a:rPr lang="en-US" altLang="ko-KR" dirty="0"/>
              <a:t>(GitHub </a:t>
            </a:r>
            <a:r>
              <a:rPr lang="en-US" altLang="ko-KR" dirty="0" err="1"/>
              <a:t>Codespaces</a:t>
            </a:r>
            <a:r>
              <a:rPr lang="en-US" altLang="ko-KR" dirty="0"/>
              <a:t>) : </a:t>
            </a:r>
            <a:r>
              <a:rPr lang="ko-KR" altLang="en-US" dirty="0"/>
              <a:t>클라우드 기반 개발 화경을 지원함</a:t>
            </a:r>
            <a:endParaRPr lang="en-US" altLang="ko-KR" dirty="0"/>
          </a:p>
          <a:p>
            <a:pPr lvl="1"/>
            <a:r>
              <a:rPr lang="ko-KR" altLang="en-US" dirty="0" err="1"/>
              <a:t>깃허브</a:t>
            </a:r>
            <a:r>
              <a:rPr lang="ko-KR" altLang="en-US" dirty="0"/>
              <a:t> </a:t>
            </a:r>
            <a:r>
              <a:rPr lang="ko-KR" altLang="en-US" dirty="0" err="1"/>
              <a:t>코파일럿</a:t>
            </a:r>
            <a:r>
              <a:rPr lang="en-US" altLang="ko-KR" dirty="0"/>
              <a:t>(GitHub Copilot) : </a:t>
            </a:r>
            <a:r>
              <a:rPr lang="ko-KR" altLang="en-US" dirty="0"/>
              <a:t>지능형 코드 보완 도구를 제공함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8C10FB-BD83-436E-A585-CFBA030F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0675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38A04A-CCE3-426F-A813-183AE8FB3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리포지토리</a:t>
            </a:r>
            <a:r>
              <a:rPr lang="en-US" altLang="ko-KR" dirty="0"/>
              <a:t>(Repository)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6133B2-E376-4A7D-9010-83E4190F9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리포지토리의</a:t>
            </a:r>
            <a:r>
              <a:rPr lang="ko-KR" altLang="en-US" dirty="0"/>
              <a:t> 개념</a:t>
            </a:r>
            <a:endParaRPr lang="en-US" altLang="ko-KR" dirty="0"/>
          </a:p>
          <a:p>
            <a:pPr lvl="1"/>
            <a:r>
              <a:rPr lang="ko-KR" altLang="en-US" dirty="0"/>
              <a:t>코드 관리 단위이자 공동 개발을 위한 위치를 제공함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 err="1"/>
              <a:t>리포지토리의</a:t>
            </a:r>
            <a:r>
              <a:rPr lang="ko-KR" altLang="en-US" dirty="0"/>
              <a:t> 종류</a:t>
            </a:r>
            <a:endParaRPr lang="en-US" altLang="ko-KR" dirty="0"/>
          </a:p>
          <a:p>
            <a:pPr lvl="1"/>
            <a:r>
              <a:rPr lang="ko-KR" altLang="en-US" dirty="0"/>
              <a:t>퍼블릭 </a:t>
            </a:r>
            <a:r>
              <a:rPr lang="ko-KR" altLang="en-US" dirty="0" err="1"/>
              <a:t>리포지토리</a:t>
            </a:r>
            <a:r>
              <a:rPr lang="en-US" altLang="ko-KR" dirty="0"/>
              <a:t>(Public Repository) : </a:t>
            </a:r>
            <a:r>
              <a:rPr lang="ko-KR" altLang="en-US" dirty="0"/>
              <a:t>인터넷에 공개되어 누구나 접근 가능함</a:t>
            </a:r>
            <a:endParaRPr lang="en-US" altLang="ko-KR" dirty="0"/>
          </a:p>
          <a:p>
            <a:pPr lvl="1"/>
            <a:r>
              <a:rPr lang="ko-KR" altLang="en-US" dirty="0" err="1"/>
              <a:t>프라이빗</a:t>
            </a:r>
            <a:r>
              <a:rPr lang="ko-KR" altLang="en-US" dirty="0"/>
              <a:t> </a:t>
            </a:r>
            <a:r>
              <a:rPr lang="ko-KR" altLang="en-US" dirty="0" err="1"/>
              <a:t>리포지토리</a:t>
            </a:r>
            <a:r>
              <a:rPr lang="en-US" altLang="ko-KR" dirty="0"/>
              <a:t>(Public Repository) : </a:t>
            </a:r>
            <a:r>
              <a:rPr lang="ko-KR" altLang="en-US" dirty="0"/>
              <a:t>지정된 인원만 가능하며 비즈니스 코드 비공개에 활용함</a:t>
            </a:r>
            <a:endParaRPr lang="en-US" altLang="ko-KR" dirty="0"/>
          </a:p>
          <a:p>
            <a:pPr lvl="1"/>
            <a:r>
              <a:rPr lang="ko-KR" altLang="en-US" dirty="0" err="1"/>
              <a:t>인터널</a:t>
            </a:r>
            <a:r>
              <a:rPr lang="ko-KR" altLang="en-US" dirty="0"/>
              <a:t> </a:t>
            </a:r>
            <a:r>
              <a:rPr lang="ko-KR" altLang="en-US" dirty="0" err="1"/>
              <a:t>리포지토리</a:t>
            </a:r>
            <a:r>
              <a:rPr lang="en-US" altLang="ko-KR" dirty="0"/>
              <a:t>(Internal Repository) : </a:t>
            </a:r>
            <a:r>
              <a:rPr lang="ko-KR" altLang="en-US" dirty="0"/>
              <a:t>엔터프라이즈 계정 내 그룹 간 공유가 가능한 </a:t>
            </a:r>
            <a:r>
              <a:rPr lang="ko-KR" altLang="en-US" dirty="0" err="1"/>
              <a:t>프라이빗</a:t>
            </a:r>
            <a:r>
              <a:rPr lang="ko-KR" altLang="en-US" dirty="0"/>
              <a:t> 저장소의 일종임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0E3A91-DA2C-4895-805A-6ECEFF6A1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3930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19ED59-E949-4ACE-B0DE-FE6928DDB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깃허브</a:t>
            </a:r>
            <a:r>
              <a:rPr lang="ko-KR" altLang="en-US" dirty="0"/>
              <a:t> 공식 문서 활용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5A5171-5AA8-45AE-9582-B5B33DBA7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공식 문서의 특징 및 </a:t>
            </a:r>
            <a:r>
              <a:rPr lang="ko-KR" altLang="en-US" dirty="0" err="1"/>
              <a:t>참조법</a:t>
            </a:r>
            <a:endParaRPr lang="en-US" altLang="ko-KR" dirty="0"/>
          </a:p>
          <a:p>
            <a:pPr lvl="1"/>
            <a:r>
              <a:rPr lang="ko-KR" altLang="en-US" dirty="0"/>
              <a:t>최신 내용 확인을 위해 공식 문서</a:t>
            </a:r>
            <a:r>
              <a:rPr lang="en-US" altLang="ko-KR" dirty="0"/>
              <a:t>(</a:t>
            </a:r>
            <a:r>
              <a:rPr lang="en-US" altLang="ko-KR" dirty="0">
                <a:hlinkClick r:id="rId2"/>
              </a:rPr>
              <a:t>https://docs.github.com/ko</a:t>
            </a:r>
            <a:r>
              <a:rPr lang="en-US" altLang="ko-KR" dirty="0"/>
              <a:t>) </a:t>
            </a:r>
            <a:r>
              <a:rPr lang="ko-KR" altLang="en-US" dirty="0"/>
              <a:t>참조를 권장함</a:t>
            </a:r>
            <a:endParaRPr lang="en-US" altLang="ko-KR" dirty="0"/>
          </a:p>
          <a:p>
            <a:pPr lvl="1"/>
            <a:r>
              <a:rPr lang="en-US" altLang="ko-KR" dirty="0"/>
              <a:t>URL </a:t>
            </a:r>
            <a:r>
              <a:rPr lang="ko-KR" altLang="en-US" dirty="0"/>
              <a:t>변경 가능성에 대비해 영문 주요 키워드로 검색하는 방법을 제시</a:t>
            </a:r>
            <a:endParaRPr lang="en-US" altLang="ko-KR" dirty="0"/>
          </a:p>
          <a:p>
            <a:pPr lvl="1"/>
            <a:r>
              <a:rPr lang="ko-KR" altLang="en-US" dirty="0"/>
              <a:t>문서 참조 시 좌측 상단의 버전을 반드시 확인하도록 안내함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4254B0-F2F7-41FD-94BD-2CB2D0A3A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643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8A6908-62E7-4ACC-999B-D12EF2F9C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환경 구축 및 </a:t>
            </a:r>
            <a:r>
              <a:rPr lang="ko-KR" altLang="en-US" dirty="0" err="1"/>
              <a:t>깃허브</a:t>
            </a:r>
            <a:r>
              <a:rPr lang="ko-KR" altLang="en-US" dirty="0"/>
              <a:t> </a:t>
            </a:r>
            <a:r>
              <a:rPr lang="en-US" altLang="ko-KR" dirty="0"/>
              <a:t>CLI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3ABEA7-4FFA-4922-BB0F-1839C3BFE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실습 환경 개요</a:t>
            </a:r>
            <a:endParaRPr lang="en-US" altLang="ko-KR" dirty="0"/>
          </a:p>
          <a:p>
            <a:pPr lvl="1"/>
            <a:r>
              <a:rPr lang="ko-KR" altLang="en-US" dirty="0"/>
              <a:t>깃</a:t>
            </a:r>
            <a:r>
              <a:rPr lang="en-US" altLang="ko-KR" dirty="0"/>
              <a:t>(Git) </a:t>
            </a:r>
            <a:r>
              <a:rPr lang="ko-KR" altLang="en-US" dirty="0"/>
              <a:t>설치 및 인터넷 접속이 가능한 환경을 실습 조건으로 제시</a:t>
            </a:r>
            <a:br>
              <a:rPr lang="en-US" altLang="ko-KR" dirty="0"/>
            </a:br>
            <a:r>
              <a:rPr lang="ko-KR" altLang="en-US" dirty="0" err="1"/>
              <a:t>명령줄</a:t>
            </a:r>
            <a:r>
              <a:rPr lang="ko-KR" altLang="en-US" dirty="0"/>
              <a:t> 환경은 </a:t>
            </a:r>
            <a:r>
              <a:rPr lang="en-US" altLang="ko-KR" dirty="0"/>
              <a:t>Bash</a:t>
            </a:r>
            <a:r>
              <a:rPr lang="ko-KR" altLang="en-US" dirty="0"/>
              <a:t>를 기본 전제로 설정함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깃허브</a:t>
            </a:r>
            <a:r>
              <a:rPr lang="ko-KR" altLang="en-US" dirty="0"/>
              <a:t> </a:t>
            </a:r>
            <a:r>
              <a:rPr lang="en-US" altLang="ko-KR" dirty="0"/>
              <a:t>CLI(Command-Line Interface)</a:t>
            </a:r>
            <a:r>
              <a:rPr lang="ko-KR" altLang="en-US" dirty="0"/>
              <a:t>의 정의 및 기능</a:t>
            </a:r>
            <a:endParaRPr lang="en-US" altLang="ko-KR" dirty="0"/>
          </a:p>
          <a:p>
            <a:pPr lvl="1"/>
            <a:r>
              <a:rPr lang="ko-KR" altLang="en-US" dirty="0"/>
              <a:t>명령줄에서 </a:t>
            </a:r>
            <a:r>
              <a:rPr lang="ko-KR" altLang="en-US" dirty="0" err="1"/>
              <a:t>깃허브를</a:t>
            </a:r>
            <a:r>
              <a:rPr lang="ko-KR" altLang="en-US" dirty="0"/>
              <a:t> 직접 제어하고 처리하는 전용 도구로 정의</a:t>
            </a:r>
            <a:endParaRPr lang="en-US" altLang="ko-KR" dirty="0"/>
          </a:p>
          <a:p>
            <a:pPr lvl="1"/>
            <a:r>
              <a:rPr lang="ko-KR" altLang="en-US" dirty="0"/>
              <a:t>주요 제공 기능을 제시</a:t>
            </a:r>
            <a:endParaRPr lang="en-US" altLang="ko-KR" dirty="0"/>
          </a:p>
          <a:p>
            <a:pPr lvl="2"/>
            <a:r>
              <a:rPr lang="ko-KR" altLang="en-US" dirty="0"/>
              <a:t>풀 </a:t>
            </a:r>
            <a:r>
              <a:rPr lang="ko-KR" altLang="en-US" dirty="0" err="1"/>
              <a:t>리퀘스트</a:t>
            </a:r>
            <a:r>
              <a:rPr lang="ko-KR" altLang="en-US" dirty="0"/>
              <a:t> 작성</a:t>
            </a:r>
            <a:r>
              <a:rPr lang="en-US" altLang="ko-KR" dirty="0"/>
              <a:t>, </a:t>
            </a:r>
            <a:r>
              <a:rPr lang="ko-KR" altLang="en-US" dirty="0"/>
              <a:t>코멘트 추가</a:t>
            </a:r>
            <a:r>
              <a:rPr lang="en-US" altLang="ko-KR" dirty="0"/>
              <a:t>, </a:t>
            </a:r>
            <a:r>
              <a:rPr lang="ko-KR" altLang="en-US" dirty="0"/>
              <a:t>병합</a:t>
            </a:r>
            <a:r>
              <a:rPr lang="en-US" altLang="ko-KR" dirty="0"/>
              <a:t>(merge)</a:t>
            </a:r>
          </a:p>
          <a:p>
            <a:pPr lvl="2"/>
            <a:r>
              <a:rPr lang="ko-KR" altLang="en-US" dirty="0" err="1"/>
              <a:t>깃허브</a:t>
            </a:r>
            <a:r>
              <a:rPr lang="ko-KR" altLang="en-US" dirty="0"/>
              <a:t> 액션 참조</a:t>
            </a:r>
            <a:r>
              <a:rPr lang="en-US" altLang="ko-KR" dirty="0"/>
              <a:t>, </a:t>
            </a:r>
            <a:r>
              <a:rPr lang="ko-KR" altLang="en-US" dirty="0"/>
              <a:t>실행</a:t>
            </a:r>
            <a:r>
              <a:rPr lang="en-US" altLang="ko-KR" dirty="0"/>
              <a:t>, </a:t>
            </a:r>
            <a:r>
              <a:rPr lang="ko-KR" altLang="en-US" dirty="0"/>
              <a:t>유효화</a:t>
            </a:r>
            <a:r>
              <a:rPr lang="en-US" altLang="ko-KR" dirty="0"/>
              <a:t>,</a:t>
            </a:r>
            <a:r>
              <a:rPr lang="ko-KR" altLang="en-US" dirty="0"/>
              <a:t> 무효화</a:t>
            </a:r>
            <a:endParaRPr lang="en-US" altLang="ko-KR" dirty="0"/>
          </a:p>
          <a:p>
            <a:pPr lvl="2"/>
            <a:r>
              <a:rPr lang="ko-KR" altLang="en-US" dirty="0" err="1"/>
              <a:t>리포지토리</a:t>
            </a:r>
            <a:r>
              <a:rPr lang="ko-KR" altLang="en-US" dirty="0"/>
              <a:t> 작성</a:t>
            </a:r>
            <a:r>
              <a:rPr lang="en-US" altLang="ko-KR" dirty="0"/>
              <a:t>, </a:t>
            </a:r>
            <a:r>
              <a:rPr lang="ko-KR" altLang="en-US" dirty="0"/>
              <a:t>설정</a:t>
            </a:r>
            <a:r>
              <a:rPr lang="en-US" altLang="ko-KR" dirty="0"/>
              <a:t>, </a:t>
            </a:r>
            <a:r>
              <a:rPr lang="ko-KR" altLang="en-US" dirty="0"/>
              <a:t>포크</a:t>
            </a:r>
            <a:r>
              <a:rPr lang="en-US" altLang="ko-KR" dirty="0"/>
              <a:t>(</a:t>
            </a:r>
            <a:r>
              <a:rPr lang="en-US" altLang="ko-KR" dirty="0" err="1"/>
              <a:t>foke</a:t>
            </a:r>
            <a:r>
              <a:rPr lang="en-US" altLang="ko-KR" dirty="0"/>
              <a:t>), </a:t>
            </a:r>
            <a:r>
              <a:rPr lang="ko-KR" altLang="en-US" dirty="0"/>
              <a:t>아카이브</a:t>
            </a:r>
            <a:r>
              <a:rPr lang="en-US" altLang="ko-KR" dirty="0"/>
              <a:t>(archive)</a:t>
            </a:r>
          </a:p>
          <a:p>
            <a:pPr lvl="1"/>
            <a:r>
              <a:rPr lang="ko-KR" altLang="en-US" dirty="0"/>
              <a:t>일상적 개발 작업의 </a:t>
            </a:r>
            <a:r>
              <a:rPr lang="ko-KR" altLang="en-US" dirty="0" err="1"/>
              <a:t>명령줄</a:t>
            </a:r>
            <a:r>
              <a:rPr lang="ko-KR" altLang="en-US" dirty="0"/>
              <a:t> 실행 및 자동화를 통한 효율 향상을 도모함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CE80F1-2857-47E9-9015-519033531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9674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3">
      <a:majorFont>
        <a:latin typeface="Calibri"/>
        <a:ea typeface="맑은 고딕"/>
        <a:cs typeface=""/>
      </a:majorFont>
      <a:minorFont>
        <a:latin typeface="Calibri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</TotalTime>
  <Words>1003</Words>
  <Application>Microsoft Office PowerPoint</Application>
  <PresentationFormat>와이드스크린</PresentationFormat>
  <Paragraphs>154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Verdana</vt:lpstr>
      <vt:lpstr>Office 테마</vt:lpstr>
      <vt:lpstr>Jenkins를 이용한  CI/CD Pipeline 구축</vt:lpstr>
      <vt:lpstr>소프트웨어 개발</vt:lpstr>
      <vt:lpstr>소프트웨어 개발의 특성</vt:lpstr>
      <vt:lpstr>CI/CD - 1</vt:lpstr>
      <vt:lpstr>CI/CD - 2</vt:lpstr>
      <vt:lpstr>CI/CD - 3</vt:lpstr>
      <vt:lpstr>CI/CD - 3</vt:lpstr>
      <vt:lpstr>CI/CD - 3</vt:lpstr>
      <vt:lpstr>깃허브(GitHub) 개요</vt:lpstr>
      <vt:lpstr>리포지토리(Repository)</vt:lpstr>
      <vt:lpstr>깃허브 공식 문서 활용</vt:lpstr>
      <vt:lpstr>실습 환경 구축 및 깃허브 CLI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YUHAN</dc:creator>
  <cp:lastModifiedBy>YUHAN</cp:lastModifiedBy>
  <cp:revision>34</cp:revision>
  <dcterms:created xsi:type="dcterms:W3CDTF">2026-10-07T00:40:47Z</dcterms:created>
  <dcterms:modified xsi:type="dcterms:W3CDTF">2026-10-27T02:52:34Z</dcterms:modified>
</cp:coreProperties>
</file>